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Mean output bits flipped</c:v>
                </c:pt>
              </c:strCache>
            </c:strRef>
          </c:tx>
          <c:spPr>
            <a:ln w="28575">
              <a:solidFill>
                <a:srgbClr val="2A78D6"/>
              </a:solidFill>
            </a:ln>
          </c:spPr>
          <c:marker>
            <c:symbol val="circle"/>
            <c:size val="9"/>
            <c:spPr>
              <a:solidFill>
                <a:srgbClr val="2A78D6"/>
              </a:solidFill>
              <a:ln>
                <a:solidFill>
                  <a:srgbClr val="FCFCFB"/>
                </a:solidFill>
              </a:ln>
            </c:spPr>
          </c:marker>
          <c:dLbls>
            <c:dLbl>
              <c:idx val="0"/>
              <c:tx>
                <c:rich>
                  <a:bodyPr/>
                  <a:lstStyle/>
                  <a:p>
                    <a:r>
                      <a:rPr sz="1300" b="1">
                        <a:solidFill>
                          <a:srgbClr val="0B0B0B"/>
                        </a:solidFill>
                      </a:rPr>
                      <a:t>13.3%</a:t>
                    </a:r>
                  </a:p>
                </c:rich>
              </c:tx>
              <c:dLblPos val="r"/>
              <c:showLegendKey val="0"/>
              <c:showVal val="1"/>
              <c:showCatName val="0"/>
              <c:showSerName val="0"/>
              <c:showPercent val="0"/>
              <c:showBubbleSize val="0"/>
            </c:dLbl>
            <c:dLbl>
              <c:idx val="2"/>
              <c:tx>
                <c:rich>
                  <a:bodyPr/>
                  <a:lstStyle/>
                  <a:p>
                    <a:r>
                      <a:rPr sz="1300" b="1">
                        <a:solidFill>
                          <a:srgbClr val="0B0B0B"/>
                        </a:solidFill>
                      </a:rPr>
                      <a:t>50.0%</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1</c:v>
                </c:pt>
                <c:pt idx="1">
                  <c:v>2</c:v>
                </c:pt>
                <c:pt idx="2">
                  <c:v>3</c:v>
                </c:pt>
                <c:pt idx="3">
                  <c:v>4</c:v>
                </c:pt>
                <c:pt idx="4">
                  <c:v>8</c:v>
                </c:pt>
                <c:pt idx="5">
                  <c:v>16</c:v>
                </c:pt>
              </c:strCache>
            </c:strRef>
          </c:cat>
          <c:val>
            <c:numRef>
              <c:f>Sheet1!$B$2:$B$7</c:f>
              <c:numCache>
                <c:formatCode>General</c:formatCode>
                <c:ptCount val="6"/>
                <c:pt idx="0">
                  <c:v>13.27</c:v>
                </c:pt>
                <c:pt idx="1">
                  <c:v>37.9</c:v>
                </c:pt>
                <c:pt idx="2">
                  <c:v>50.0</c:v>
                </c:pt>
                <c:pt idx="3">
                  <c:v>50.0</c:v>
                </c:pt>
                <c:pt idx="4">
                  <c:v>49.98</c:v>
                </c:pt>
                <c:pt idx="5">
                  <c:v>49.98</c:v>
                </c:pt>
              </c:numCache>
            </c:numRef>
          </c:val>
          <c:smooth val="0"/>
        </c:ser>
        <c:ser>
          <c:idx val="1"/>
          <c:order val="1"/>
          <c:tx>
            <c:strRef>
              <c:f>Sheet1!$C$1</c:f>
              <c:strCache>
                <c:ptCount val="1"/>
                <c:pt idx="0">
                  <c:v>Ideal (random) = 50%</c:v>
                </c:pt>
              </c:strCache>
            </c:strRef>
          </c:tx>
          <c:spPr>
            <a:ln w="19050">
              <a:solidFill>
                <a:srgbClr val="8A8985"/>
              </a:solidFill>
              <a:prstDash val="dash"/>
            </a:ln>
          </c:spPr>
          <c:marker>
            <c:symbol val="none"/>
          </c:marker>
          <c:cat>
            <c:strRef>
              <c:f>Sheet1!$A$2:$A$7</c:f>
              <c:strCache>
                <c:ptCount val="6"/>
                <c:pt idx="0">
                  <c:v>1</c:v>
                </c:pt>
                <c:pt idx="1">
                  <c:v>2</c:v>
                </c:pt>
                <c:pt idx="2">
                  <c:v>3</c:v>
                </c:pt>
                <c:pt idx="3">
                  <c:v>4</c:v>
                </c:pt>
                <c:pt idx="4">
                  <c:v>8</c:v>
                </c:pt>
                <c:pt idx="5">
                  <c:v>16</c:v>
                </c:pt>
              </c:strCache>
            </c:strRef>
          </c:cat>
          <c:val>
            <c:numRef>
              <c:f>Sheet1!$C$2:$C$7</c:f>
              <c:numCache>
                <c:formatCode>General</c:formatCode>
                <c:ptCount val="6"/>
                <c:pt idx="0">
                  <c:v>50</c:v>
                </c:pt>
                <c:pt idx="1">
                  <c:v>50</c:v>
                </c:pt>
                <c:pt idx="2">
                  <c:v>50</c:v>
                </c:pt>
                <c:pt idx="3">
                  <c:v>50</c:v>
                </c:pt>
                <c:pt idx="4">
                  <c:v>50</c:v>
                </c:pt>
                <c:pt idx="5">
                  <c:v>50</c:v>
                </c:pt>
              </c:numCache>
            </c:numRef>
          </c:val>
          <c:smooth val="0"/>
        </c:ser>
        <c:marker val="1"/>
        <c:smooth val="0"/>
        <c:axId val="2118791784"/>
        <c:axId val="2140495176"/>
      </c:lineChart>
      <c:catAx>
        <c:axId val="2118791784"/>
        <c:scaling>
          <c:orientation val="minMax"/>
        </c:scaling>
        <c:delete val="0"/>
        <c:axPos val="b"/>
        <c:title>
          <c:tx>
            <c:rich>
              <a:bodyPr/>
              <a:lstStyle/>
              <a:p>
                <a:r>
                  <a:rPr sz="1200">
                    <a:solidFill>
                      <a:srgbClr val="52514E"/>
                    </a:solidFill>
                  </a:rPr>
                  <a:t>Feistel rounds</a:t>
                </a:r>
              </a:p>
            </c:rich>
          </c:tx>
          <c:layout/>
          <c:overlay val="0"/>
        </c:title>
        <c:majorTickMark val="out"/>
        <c:minorTickMark val="none"/>
        <c:tickLblPos val="nextTo"/>
        <c:spPr>
          <a:ln>
            <a:solidFill>
              <a:srgbClr val="E2E1DD"/>
            </a:solidFill>
          </a:ln>
        </c:spPr>
        <c:txPr>
          <a:bodyPr/>
          <a:lstStyle/>
          <a:p>
            <a:pPr>
              <a:defRPr sz="1200">
                <a:solidFill>
                  <a:srgbClr val="52514E"/>
                </a:solidFill>
                <a:latin typeface="Segoe UI"/>
              </a:defRPr>
            </a:pPr>
          </a:p>
        </c:txPr>
        <c:crossAx val="2140495176"/>
        <c:crosses val="autoZero"/>
        <c:auto val="1"/>
        <c:lblAlgn val="ctr"/>
        <c:lblOffset val="100"/>
        <c:noMultiLvlLbl val="0"/>
      </c:catAx>
      <c:valAx>
        <c:axId val="2140495176"/>
        <c:scaling>
          <c:max val="60.0"/>
          <c:min val="0.0"/>
        </c:scaling>
        <c:delete val="0"/>
        <c:axPos val="l"/>
        <c:majorGridlines>
          <c:spPr>
            <a:ln>
              <a:solidFill>
                <a:srgbClr val="E2E1DD"/>
              </a:solidFill>
            </a:ln>
          </c:spPr>
        </c:majorGridlines>
        <c:title>
          <c:tx>
            <c:rich>
              <a:bodyPr/>
              <a:lstStyle/>
              <a:p>
                <a:r>
                  <a:rPr sz="1200">
                    <a:solidFill>
                      <a:srgbClr val="52514E"/>
                    </a:solidFill>
                  </a:rPr>
                  <a:t>% of 128 output bits flipped</a:t>
                </a:r>
              </a:p>
            </c:rich>
          </c:tx>
          <c:layout/>
          <c:overlay val="0"/>
        </c:title>
        <c:majorTickMark val="out"/>
        <c:minorTickMark val="none"/>
        <c:tickLblPos val="nextTo"/>
        <c:spPr>
          <a:ln>
            <a:solidFill>
              <a:srgbClr val="E2E1DD"/>
            </a:solidFill>
          </a:ln>
        </c:spPr>
        <c:txPr>
          <a:bodyPr/>
          <a:lstStyle/>
          <a:p>
            <a:pPr>
              <a:defRPr sz="1200">
                <a:solidFill>
                  <a:srgbClr val="52514E"/>
                </a:solidFill>
                <a:latin typeface="Segoe UI"/>
              </a:defRPr>
            </a:pPr>
          </a:p>
        </c:txPr>
        <c:crossAx val="2118791784"/>
        <c:crosses val="autoZero"/>
        <c:majorUnit val="10.0"/>
      </c:valAx>
    </c:plotArea>
    <c:legend>
      <c:legendPos val="b"/>
      <c:layout/>
      <c:overlay val="0"/>
      <c:txPr>
        <a:bodyPr/>
        <a:lstStyle/>
        <a:p>
          <a:pPr>
            <a:defRPr sz="1200">
              <a:solidFill>
                <a:srgbClr val="52514E"/>
              </a:solidFill>
            </a:defRPr>
          </a:pPr>
        </a:p>
      </c:txPr>
    </c:legend>
    <c:plotVisOnly val="1"/>
    <c:dispBlanksAs val="gap"/>
    <c:showDLblsOverMax val="0"/>
  </c:chart>
  <c:txPr>
    <a:bodyPr/>
    <a:lstStyle/>
    <a:p>
      <a:pPr>
        <a:defRPr sz="1800">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Secret message recovered</c:v>
                </c:pt>
              </c:strCache>
            </c:strRef>
          </c:tx>
          <c:spPr>
            <a:solidFill>
              <a:srgbClr val="2A78D6"/>
            </a:solidFill>
          </c:spPr>
          <c:cat>
            <c:strRef>
              <c:f>Sheet1!$A$2:$A$3</c:f>
              <c:strCache>
                <c:ptCount val="2"/>
                <c:pt idx="0">
                  <c:v>Original design
(1 byte = 1 ray, no nonce)</c:v>
                </c:pt>
                <c:pt idx="1">
                  <c:v>Final cipher
(Feistel + CTR + nonce)</c:v>
                </c:pt>
              </c:strCache>
            </c:strRef>
          </c:cat>
          <c:val>
            <c:numRef>
              <c:f>Sheet1!$B$2:$B$3</c:f>
              <c:numCache>
                <c:formatCode>General</c:formatCode>
                <c:ptCount val="2"/>
                <c:pt idx="0">
                  <c:v>100.0</c:v>
                </c:pt>
                <c:pt idx="1">
                  <c:v>1.4</c:v>
                </c:pt>
              </c:numCache>
            </c:numRef>
          </c:val>
        </c:ser>
        <c:dLbls>
          <c:numFmt formatCode="0.0&quot;%&quot;" sourceLinked="0"/>
          <c:txPr>
            <a:bodyPr/>
            <a:lstStyle/>
            <a:p>
              <a:pPr>
                <a:defRPr sz="1600" b="1">
                  <a:solidFill>
                    <a:srgbClr val="0B0B0B"/>
                  </a:solidFill>
                </a:defRPr>
              </a:pPr>
            </a:p>
          </c:txPr>
          <c:showLegendKey val="0"/>
          <c:showVal val="1"/>
          <c:showCatName val="0"/>
          <c:showSerName val="0"/>
          <c:showPercent val="0"/>
          <c:showBubbleSize val="0"/>
          <c:showLeaderLines val="1"/>
        </c:dLbls>
        <c:gapWidth val="90"/>
        <c:axId val="-2068027336"/>
        <c:axId val="-2113994440"/>
      </c:barChart>
      <c:catAx>
        <c:axId val="-2068027336"/>
        <c:scaling>
          <c:orientation val="minMax"/>
        </c:scaling>
        <c:delete val="0"/>
        <c:axPos val="b"/>
        <c:majorTickMark val="out"/>
        <c:minorTickMark val="none"/>
        <c:tickLblPos val="nextTo"/>
        <c:spPr>
          <a:ln>
            <a:solidFill>
              <a:srgbClr val="E2E1DD"/>
            </a:solidFill>
          </a:ln>
        </c:spPr>
        <c:txPr>
          <a:bodyPr/>
          <a:lstStyle/>
          <a:p>
            <a:pPr>
              <a:defRPr sz="1300">
                <a:solidFill>
                  <a:srgbClr val="52514E"/>
                </a:solidFill>
                <a:latin typeface="Segoe UI"/>
              </a:defRPr>
            </a:pPr>
          </a:p>
        </c:txPr>
        <c:crossAx val="-2113994440"/>
        <c:crosses val="autoZero"/>
        <c:auto val="1"/>
        <c:lblAlgn val="ctr"/>
        <c:lblOffset val="100"/>
        <c:noMultiLvlLbl val="0"/>
      </c:catAx>
      <c:valAx>
        <c:axId val="-2113994440"/>
        <c:scaling>
          <c:max val="115.0"/>
          <c:min val="0.0"/>
        </c:scaling>
        <c:delete val="0"/>
        <c:axPos val="l"/>
        <c:majorGridlines>
          <c:spPr>
            <a:ln>
              <a:solidFill>
                <a:srgbClr val="E2E1DD"/>
              </a:solidFill>
            </a:ln>
          </c:spPr>
        </c:majorGridlines>
        <c:majorTickMark val="out"/>
        <c:minorTickMark val="none"/>
        <c:tickLblPos val="nextTo"/>
        <c:spPr>
          <a:ln>
            <a:solidFill>
              <a:srgbClr val="E2E1DD"/>
            </a:solidFill>
          </a:ln>
        </c:spPr>
        <c:txPr>
          <a:bodyPr/>
          <a:lstStyle/>
          <a:p>
            <a:pPr>
              <a:defRPr sz="1200">
                <a:solidFill>
                  <a:srgbClr val="52514E"/>
                </a:solidFill>
                <a:latin typeface="Segoe UI"/>
              </a:defRPr>
            </a:pPr>
          </a:p>
        </c:txPr>
        <c:crossAx val="-2068027336"/>
        <c:crosses val="autoZero"/>
        <c:majorUnit val="25.0"/>
      </c:valAx>
    </c:plotArea>
    <c:dispBlanksAs val="gap"/>
  </c:chart>
  <c:txPr>
    <a:bodyPr/>
    <a:lstStyle/>
    <a:p>
      <a:pPr>
        <a:defRPr sz="1800">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My project is an encryption algorithm that uses the physics of light: refraction and total internal reflection inside a secret 3D crystal. I built it in C, tested it, attacked it myself, and made a simulation GUI to show it working.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a glass cube made of 4096 small blocks, each bending light differently. The key decides the pattern. Data decides where and at what angle a laser enters. Without the key you cannot predict where it exits. That unpredictability is turned into a cipher.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plan looked impressive but had real flaws. The biggest: encrypting one byte per ray is just a 256-entry lookup table, so 256 chosen bytes break it completely. My attack suite later proved this: 100% of a secret message recovered. Every fix on the right is in the final design.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whole pipeline. The 256-bit key goes through HKDF to produce four independent subkeys. The crystal and S-box feed the ray tracer, which is the round function F of a 16-round Feistel cipher. CTR mode turns it into a stream cipher for files of any size, and an HMAC tag detects tampering.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Fixed-point is essential: floats round differently on different CPUs, and a cipher must be bit-exact everywhere. The chaotic map gives structure, but because chaos in finite precision repeats, I XOR in HMAC output so security never depends on the chaos.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use the vector form of Snell's law because it needs no sine or arcsine, only a square root, which I compute with integers. If k is negative the ray cannot pass: total internal reflection. Worked example: glass 1.5 to air 1.0 at 30 degrees exits at 48.6 degrees; at 50 degrees it reflects.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ray tracer running in my simulation GUI. 64 input bits choose the entry point and angle. The ray makes exactly 48 boundary events. Black dots are refractions, red crosses are total internal reflections, orange squares are wall bounces. At every step a secret S-box is mixed in, and the whole journey is compressed to 64 output bits.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Feistel? Tracing a fixed-point ray backwards does not work, because rounding errors make it drift. In a Feistel network decryption only needs F running forwards, so decryption is always exact. The chart shows one flipped input bit spreading to about half of all 128 bits within two rounds.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block cipher alone always maps the same input to the same output. CTR mode with a fresh random nonce means the same file encrypts differently every time. The HMAC tag is checked before decryption: flip a single bit anywhere and the file is rejected and nothing is output.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tested at three levels. Unit tests check every building block against official test vectors and the physics against worked examples. CLI tests run the real program on real files. And a separate attack program tries to break the cipher. All passed.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 avalanche criterion: flip one input bit, and every output bit should flip with 50% probability. With one round, only 13% flip: that is correctly flagged as weak, which proves the test works. From three rounds on the cipher is at 50%. We use 16 rounds for a large safety margin.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result. I implemented the original byte-per-ray design and attacked it with a codebook: encrypt all 256 bytes once, then read any message. 100% recovered, no key needed. The same attack on the final cipher recovers 1.4%, which is just chance on a 71-byte message. The linearity test also catches a 1-round cipher 100% of the time, and 16 rounds 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encrypted 10 megabytes of a repeating English sentence: very low entropy input. The ciphertext scores 7.999984 bits per byte, a normal chi-square, no correlation, and passes two NIST tests. Important: passing statistical tests shows no obvious flaw. It does not prove security.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comparison. Same block and key size, both look random. But AES has 25 years of public cryptanalysis and proven bounds, and with hardware support it runs about 50,000 times faster on my laptop. With a 256-bit key no cipher can beat brute force, and AES is already essentially there.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idea combines three existing research areas. Optical encryption (DRPE) was broken because optics is linear. Optical PUFs use a real physical token, while mine is computed from the key. Many chaos ciphers were broken by finite-precision effects. My design avoids each of these specific mistakes.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a live demo. I'll launch a ray and step through refractions and total internal reflections, flip one bit to show a completely different path, run the Feistel rounds with the avalanche chart, then tamper with a ciphertext and show it being rejected.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Summarise the four takeaways, then open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audience and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chart" Target="../charts/char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22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gui-ray-simulation.png"/>
          <p:cNvPicPr>
            <a:picLocks noChangeAspect="1"/>
          </p:cNvPicPr>
          <p:nvPr/>
        </p:nvPicPr>
        <p:blipFill>
          <a:blip r:embed="rId3"/>
          <a:stretch>
            <a:fillRect/>
          </a:stretch>
        </p:blipFill>
        <p:spPr>
          <a:xfrm>
            <a:off x="6400800" y="1097280"/>
            <a:ext cx="5394960" cy="3433156"/>
          </a:xfrm>
          <a:prstGeom prst="rect">
            <a:avLst/>
          </a:prstGeom>
        </p:spPr>
      </p:pic>
      <p:sp>
        <p:nvSpPr>
          <p:cNvPr id="4" name="TextBox 3"/>
          <p:cNvSpPr txBox="1"/>
          <p:nvPr/>
        </p:nvSpPr>
        <p:spPr>
          <a:xfrm>
            <a:off x="548640" y="1463040"/>
            <a:ext cx="5669280" cy="365760"/>
          </a:xfrm>
          <a:prstGeom prst="rect">
            <a:avLst/>
          </a:prstGeom>
          <a:noFill/>
        </p:spPr>
        <p:txBody>
          <a:bodyPr wrap="square" anchor="t" lIns="45720" rIns="45720">
            <a:spAutoFit/>
          </a:bodyPr>
          <a:lstStyle/>
          <a:p>
            <a:pPr algn="l">
              <a:spcAft>
                <a:spcPts val="600"/>
              </a:spcAft>
            </a:pPr>
            <a:r>
              <a:rPr sz="1400" b="1">
                <a:solidFill>
                  <a:srgbClr val="8FBFF5"/>
                </a:solidFill>
                <a:latin typeface="Segoe UI"/>
              </a:rPr>
              <a:t>CRYPTOGRAPHY PROJECT</a:t>
            </a:r>
          </a:p>
        </p:txBody>
      </p:sp>
      <p:sp>
        <p:nvSpPr>
          <p:cNvPr id="5" name="TextBox 4"/>
          <p:cNvSpPr txBox="1"/>
          <p:nvPr/>
        </p:nvSpPr>
        <p:spPr>
          <a:xfrm>
            <a:off x="548640" y="1828800"/>
            <a:ext cx="5760720" cy="1828800"/>
          </a:xfrm>
          <a:prstGeom prst="rect">
            <a:avLst/>
          </a:prstGeom>
          <a:noFill/>
        </p:spPr>
        <p:txBody>
          <a:bodyPr wrap="square" anchor="t" lIns="45720" rIns="45720">
            <a:spAutoFit/>
          </a:bodyPr>
          <a:lstStyle/>
          <a:p>
            <a:pPr algn="l">
              <a:spcAft>
                <a:spcPts val="600"/>
              </a:spcAft>
            </a:pPr>
            <a:r>
              <a:rPr sz="4400" b="1">
                <a:solidFill>
                  <a:srgbClr val="FFFFFF"/>
                </a:solidFill>
                <a:latin typeface="Segoe UI"/>
              </a:rPr>
              <a:t>3D Chaotic Refractive Cipher</a:t>
            </a:r>
          </a:p>
        </p:txBody>
      </p:sp>
      <p:sp>
        <p:nvSpPr>
          <p:cNvPr id="6" name="TextBox 5"/>
          <p:cNvSpPr txBox="1"/>
          <p:nvPr/>
        </p:nvSpPr>
        <p:spPr>
          <a:xfrm>
            <a:off x="548640" y="3429000"/>
            <a:ext cx="5669280" cy="1097280"/>
          </a:xfrm>
          <a:prstGeom prst="rect">
            <a:avLst/>
          </a:prstGeom>
          <a:noFill/>
        </p:spPr>
        <p:txBody>
          <a:bodyPr wrap="square" anchor="t" lIns="45720" rIns="45720">
            <a:spAutoFit/>
          </a:bodyPr>
          <a:lstStyle/>
          <a:p>
            <a:pPr algn="l">
              <a:spcAft>
                <a:spcPts val="600"/>
              </a:spcAft>
            </a:pPr>
            <a:r>
              <a:rPr sz="2200" b="0">
                <a:solidFill>
                  <a:srgbClr val="D7E3F2"/>
                </a:solidFill>
                <a:latin typeface="Segoe UI"/>
              </a:rPr>
              <a:t>Encrypting data with light bending through a secret crystal</a:t>
            </a:r>
          </a:p>
        </p:txBody>
      </p:sp>
      <p:sp>
        <p:nvSpPr>
          <p:cNvPr id="7" name="TextBox 6"/>
          <p:cNvSpPr txBox="1"/>
          <p:nvPr/>
        </p:nvSpPr>
        <p:spPr>
          <a:xfrm>
            <a:off x="548640" y="4937760"/>
            <a:ext cx="5486400" cy="822960"/>
          </a:xfrm>
          <a:prstGeom prst="rect">
            <a:avLst/>
          </a:prstGeom>
          <a:noFill/>
        </p:spPr>
        <p:txBody>
          <a:bodyPr wrap="square" anchor="t" lIns="45720" rIns="45720">
            <a:spAutoFit/>
          </a:bodyPr>
          <a:lstStyle/>
          <a:p>
            <a:pPr algn="l">
              <a:spcAft>
                <a:spcPts val="600"/>
              </a:spcAft>
            </a:pPr>
            <a:r>
              <a:rPr sz="2000" b="1">
                <a:solidFill>
                  <a:srgbClr val="FFFFFF"/>
                </a:solidFill>
                <a:latin typeface="Segoe UI"/>
              </a:rPr>
              <a:t>Malladi Nagarjuna</a:t>
            </a:r>
          </a:p>
          <a:p>
            <a:pPr algn="l">
              <a:spcAft>
                <a:spcPts val="200"/>
              </a:spcAft>
            </a:pPr>
            <a:r>
              <a:rPr sz="1300" b="0">
                <a:solidFill>
                  <a:srgbClr val="B8C7DA"/>
                </a:solidFill>
                <a:latin typeface="Segoe UI"/>
              </a:rPr>
              <a:t>C11  ·  Python simulation GUI</a:t>
            </a:r>
          </a:p>
          <a:p>
            <a:pPr algn="l">
              <a:spcAft>
                <a:spcPts val="600"/>
              </a:spcAft>
            </a:pPr>
            <a:r>
              <a:rPr sz="1300" b="0">
                <a:solidFill>
                  <a:srgbClr val="B8C7DA"/>
                </a:solidFill>
                <a:latin typeface="Segoe UI"/>
              </a:rPr>
              <a:t>github.com/malladinagarjuna2/crypto-project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365760"/>
          </a:xfrm>
          <a:prstGeom prst="rect">
            <a:avLst/>
          </a:prstGeom>
          <a:noFill/>
        </p:spPr>
        <p:txBody>
          <a:bodyPr wrap="square" anchor="t" lIns="45720" rIns="45720">
            <a:spAutoFit/>
          </a:bodyPr>
          <a:lstStyle/>
          <a:p>
            <a:pPr algn="l">
              <a:spcAft>
                <a:spcPts val="600"/>
              </a:spcAft>
            </a:pPr>
            <a:r>
              <a:rPr sz="1200" b="1">
                <a:solidFill>
                  <a:srgbClr val="2A78D6"/>
                </a:solidFill>
                <a:latin typeface="Segoe UI"/>
              </a:rPr>
              <a:t>MOTIVATION</a:t>
            </a:r>
          </a:p>
        </p:txBody>
      </p:sp>
      <p:sp>
        <p:nvSpPr>
          <p:cNvPr id="4" name="TextBox 3"/>
          <p:cNvSpPr txBox="1"/>
          <p:nvPr/>
        </p:nvSpPr>
        <p:spPr>
          <a:xfrm>
            <a:off x="548640" y="566928"/>
            <a:ext cx="10972800" cy="822960"/>
          </a:xfrm>
          <a:prstGeom prst="rect">
            <a:avLst/>
          </a:prstGeom>
          <a:noFill/>
        </p:spPr>
        <p:txBody>
          <a:bodyPr wrap="square" anchor="t" lIns="45720" rIns="45720">
            <a:spAutoFit/>
          </a:bodyPr>
          <a:lstStyle/>
          <a:p>
            <a:pPr algn="l">
              <a:spcAft>
                <a:spcPts val="600"/>
              </a:spcAft>
            </a:pPr>
            <a:r>
              <a:rPr sz="3000" b="1">
                <a:solidFill>
                  <a:srgbClr val="12243D"/>
                </a:solidFill>
                <a:latin typeface="Segoe UI"/>
              </a:rPr>
              <a:t>The idea: hide data in the path of light</a:t>
            </a:r>
          </a:p>
        </p:txBody>
      </p:sp>
      <p:sp>
        <p:nvSpPr>
          <p:cNvPr id="5" name="TextBox 4"/>
          <p:cNvSpPr txBox="1"/>
          <p:nvPr/>
        </p:nvSpPr>
        <p:spPr>
          <a:xfrm>
            <a:off x="548640" y="1554480"/>
            <a:ext cx="5669280" cy="4389120"/>
          </a:xfrm>
          <a:prstGeom prst="rect">
            <a:avLst/>
          </a:prstGeom>
          <a:noFill/>
        </p:spPr>
        <p:txBody>
          <a:bodyPr wrap="square">
            <a:spAutoFit/>
          </a:bodyPr>
          <a:lstStyle/>
          <a:p>
            <a:pPr>
              <a:spcAft>
                <a:spcPts val="800"/>
              </a:spcAft>
            </a:pPr>
            <a:r>
              <a:rPr sz="1700">
                <a:solidFill>
                  <a:srgbClr val="2A78D6"/>
                </a:solidFill>
                <a:latin typeface="Segoe UI"/>
              </a:rPr>
              <a:t>•  </a:t>
            </a:r>
            <a:r>
              <a:rPr b="1" sz="1700">
                <a:solidFill>
                  <a:srgbClr val="0B0B0B"/>
                </a:solidFill>
                <a:latin typeface="Segoe UI"/>
              </a:rPr>
              <a:t>Secret crystal:</a:t>
            </a:r>
            <a:r>
              <a:rPr sz="1700">
                <a:solidFill>
                  <a:srgbClr val="0B0B0B"/>
                </a:solidFill>
                <a:latin typeface="Segoe UI"/>
              </a:rPr>
              <a:t> 16×16×16 = 4,096 glass cubes, each with its own refractive index n (1.0 = air … 2.417 = diamond)</a:t>
            </a:r>
          </a:p>
          <a:p>
            <a:pPr>
              <a:spcAft>
                <a:spcPts val="800"/>
              </a:spcAft>
            </a:pPr>
            <a:r>
              <a:rPr sz="1700">
                <a:solidFill>
                  <a:srgbClr val="2A78D6"/>
                </a:solidFill>
                <a:latin typeface="Segoe UI"/>
              </a:rPr>
              <a:t>•  </a:t>
            </a:r>
            <a:r>
              <a:rPr b="1" sz="1700">
                <a:solidFill>
                  <a:srgbClr val="0B0B0B"/>
                </a:solidFill>
                <a:latin typeface="Segoe UI"/>
              </a:rPr>
              <a:t>The key builds the crystal:</a:t>
            </a:r>
            <a:r>
              <a:rPr sz="1700">
                <a:solidFill>
                  <a:srgbClr val="0B0B0B"/>
                </a:solidFill>
                <a:latin typeface="Segoe UI"/>
              </a:rPr>
              <a:t> the same key always gives the same crystal; a different key gives a completely different one</a:t>
            </a:r>
          </a:p>
          <a:p>
            <a:pPr>
              <a:spcAft>
                <a:spcPts val="800"/>
              </a:spcAft>
            </a:pPr>
            <a:r>
              <a:rPr sz="1700">
                <a:solidFill>
                  <a:srgbClr val="2A78D6"/>
                </a:solidFill>
                <a:latin typeface="Segoe UI"/>
              </a:rPr>
              <a:t>•  </a:t>
            </a:r>
            <a:r>
              <a:rPr b="1" sz="1700">
                <a:solidFill>
                  <a:srgbClr val="0B0B0B"/>
                </a:solidFill>
                <a:latin typeface="Segoe UI"/>
              </a:rPr>
              <a:t>Data steers a light ray:</a:t>
            </a:r>
            <a:r>
              <a:rPr sz="1700">
                <a:solidFill>
                  <a:srgbClr val="0B0B0B"/>
                </a:solidFill>
                <a:latin typeface="Segoe UI"/>
              </a:rPr>
              <a:t> entry point + angle come from the data</a:t>
            </a:r>
          </a:p>
          <a:p>
            <a:pPr>
              <a:spcAft>
                <a:spcPts val="800"/>
              </a:spcAft>
            </a:pPr>
            <a:r>
              <a:rPr sz="1700">
                <a:solidFill>
                  <a:srgbClr val="2A78D6"/>
                </a:solidFill>
                <a:latin typeface="Segoe UI"/>
              </a:rPr>
              <a:t>•  </a:t>
            </a:r>
            <a:r>
              <a:rPr b="1" sz="1700">
                <a:solidFill>
                  <a:srgbClr val="0B0B0B"/>
                </a:solidFill>
                <a:latin typeface="Segoe UI"/>
              </a:rPr>
              <a:t>Physics scrambles it:</a:t>
            </a:r>
            <a:r>
              <a:rPr sz="1700">
                <a:solidFill>
                  <a:srgbClr val="0B0B0B"/>
                </a:solidFill>
                <a:latin typeface="Segoe UI"/>
              </a:rPr>
              <a:t> the ray bends (Snell's law) or bounces back (total internal reflection) at every cube face</a:t>
            </a:r>
          </a:p>
          <a:p>
            <a:pPr>
              <a:spcAft>
                <a:spcPts val="800"/>
              </a:spcAft>
            </a:pPr>
            <a:r>
              <a:rPr sz="1700">
                <a:solidFill>
                  <a:srgbClr val="2A78D6"/>
                </a:solidFill>
                <a:latin typeface="Segoe UI"/>
              </a:rPr>
              <a:t>•  </a:t>
            </a:r>
            <a:r>
              <a:rPr b="1" sz="1700">
                <a:solidFill>
                  <a:srgbClr val="0B0B0B"/>
                </a:solidFill>
                <a:latin typeface="Segoe UI"/>
              </a:rPr>
              <a:t>Exit state → random-looking bits</a:t>
            </a:r>
            <a:r>
              <a:rPr sz="1700">
                <a:solidFill>
                  <a:srgbClr val="0B0B0B"/>
                </a:solidFill>
                <a:latin typeface="Segoe UI"/>
              </a:rPr>
              <a:t> that encrypt the message</a:t>
            </a:r>
          </a:p>
        </p:txBody>
      </p:sp>
      <p:pic>
        <p:nvPicPr>
          <p:cNvPr id="6" name="Picture 5" descr="gui-crystal.png"/>
          <p:cNvPicPr>
            <a:picLocks noChangeAspect="1"/>
          </p:cNvPicPr>
          <p:nvPr/>
        </p:nvPicPr>
        <p:blipFill>
          <a:blip r:embed="rId3"/>
          <a:stretch>
            <a:fillRect/>
          </a:stretch>
        </p:blipFill>
        <p:spPr>
          <a:xfrm>
            <a:off x="6583680" y="1600200"/>
            <a:ext cx="5120640" cy="3258589"/>
          </a:xfrm>
          <a:prstGeom prst="rect">
            <a:avLst/>
          </a:prstGeom>
          <a:ln w="12700">
            <a:solidFill>
              <a:srgbClr val="E2E1DD"/>
            </a:solidFill>
          </a:ln>
        </p:spPr>
      </p:pic>
      <p:sp>
        <p:nvSpPr>
          <p:cNvPr id="7" name="TextBox 6"/>
          <p:cNvSpPr txBox="1"/>
          <p:nvPr/>
        </p:nvSpPr>
        <p:spPr>
          <a:xfrm>
            <a:off x="6583680" y="4937760"/>
            <a:ext cx="5120640" cy="457200"/>
          </a:xfrm>
          <a:prstGeom prst="rect">
            <a:avLst/>
          </a:prstGeom>
          <a:noFill/>
        </p:spPr>
        <p:txBody>
          <a:bodyPr wrap="square" anchor="t" lIns="45720" rIns="45720">
            <a:spAutoFit/>
          </a:bodyPr>
          <a:lstStyle/>
          <a:p>
            <a:pPr algn="l">
              <a:spcAft>
                <a:spcPts val="600"/>
              </a:spcAft>
            </a:pPr>
            <a:r>
              <a:rPr sz="1100" b="0">
                <a:solidFill>
                  <a:srgbClr val="8A8985"/>
                </a:solidFill>
                <a:latin typeface="Segoe UI"/>
              </a:rPr>
              <a:t>One depth slice of a real key-generated crystal (from the GUI)</a:t>
            </a:r>
          </a:p>
        </p:txBody>
      </p:sp>
      <p:sp>
        <p:nvSpPr>
          <p:cNvPr id="8" name="TextBox 7"/>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a:solidFill>
                  <a:srgbClr val="8A8985"/>
                </a:solidFill>
                <a:latin typeface="Segoe UI"/>
              </a:rPr>
              <a:t>3D Chaotic Refractive Cipher  ·  Malladi Nagarjuna</a:t>
            </a:r>
          </a:p>
        </p:txBody>
      </p:sp>
      <p:sp>
        <p:nvSpPr>
          <p:cNvPr id="9" name="TextBox 8"/>
          <p:cNvSpPr txBox="1"/>
          <p:nvPr/>
        </p:nvSpPr>
        <p:spPr>
          <a:xfrm>
            <a:off x="10911535" y="6446520"/>
            <a:ext cx="822960" cy="274320"/>
          </a:xfrm>
          <a:prstGeom prst="rect">
            <a:avLst/>
          </a:prstGeom>
          <a:noFill/>
        </p:spPr>
        <p:txBody>
          <a:bodyPr wrap="square" anchor="t" lIns="45720" rIns="45720">
            <a:spAutoFit/>
          </a:bodyPr>
          <a:lstStyle/>
          <a:p>
            <a:pPr algn="r">
              <a:spcAft>
                <a:spcPts val="600"/>
              </a:spcAft>
            </a:pPr>
            <a:r>
              <a:rPr sz="1000" b="0">
                <a:solidFill>
                  <a:srgbClr val="8A8985"/>
                </a:solidFill>
                <a:latin typeface="Segoe U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365760"/>
          </a:xfrm>
          <a:prstGeom prst="rect">
            <a:avLst/>
          </a:prstGeom>
          <a:noFill/>
        </p:spPr>
        <p:txBody>
          <a:bodyPr wrap="square" anchor="t" lIns="45720" rIns="45720">
            <a:spAutoFit/>
          </a:bodyPr>
          <a:lstStyle/>
          <a:p>
            <a:pPr algn="l">
              <a:spcAft>
                <a:spcPts val="600"/>
              </a:spcAft>
            </a:pPr>
            <a:r>
              <a:rPr sz="1200" b="1">
                <a:solidFill>
                  <a:srgbClr val="2A78D6"/>
                </a:solidFill>
                <a:latin typeface="Segoe UI"/>
              </a:rPr>
              <a:t>DESIGN REVIEW</a:t>
            </a:r>
          </a:p>
        </p:txBody>
      </p:sp>
      <p:sp>
        <p:nvSpPr>
          <p:cNvPr id="4" name="TextBox 3"/>
          <p:cNvSpPr txBox="1"/>
          <p:nvPr/>
        </p:nvSpPr>
        <p:spPr>
          <a:xfrm>
            <a:off x="548640" y="566928"/>
            <a:ext cx="10972800" cy="822960"/>
          </a:xfrm>
          <a:prstGeom prst="rect">
            <a:avLst/>
          </a:prstGeom>
          <a:noFill/>
        </p:spPr>
        <p:txBody>
          <a:bodyPr wrap="square" anchor="t" lIns="45720" rIns="45720">
            <a:spAutoFit/>
          </a:bodyPr>
          <a:lstStyle/>
          <a:p>
            <a:pPr algn="l">
              <a:spcAft>
                <a:spcPts val="600"/>
              </a:spcAft>
            </a:pPr>
            <a:r>
              <a:rPr sz="3000" b="1">
                <a:solidFill>
                  <a:srgbClr val="12243D"/>
                </a:solidFill>
                <a:latin typeface="Segoe UI"/>
              </a:rPr>
              <a:t>Reviewing the first plan: 6 key flaws, 6 fixes</a:t>
            </a:r>
          </a:p>
        </p:txBody>
      </p:sp>
      <p:graphicFrame>
        <p:nvGraphicFramePr>
          <p:cNvPr id="5" name="Table 4"/>
          <p:cNvGraphicFramePr>
            <a:graphicFrameLocks noGrp="1"/>
          </p:cNvGraphicFramePr>
          <p:nvPr/>
        </p:nvGraphicFramePr>
        <p:xfrm>
          <a:off x="548640" y="1600200"/>
          <a:ext cx="11064240" cy="3968496"/>
        </p:xfrm>
        <a:graphic>
          <a:graphicData uri="http://schemas.openxmlformats.org/drawingml/2006/table">
            <a:tbl>
              <a:tblPr firstRow="1" bandRow="1">
                <a:tableStyleId>{5C22544A-7EE6-4342-B048-85BDC9FD1C3A}</a:tableStyleId>
              </a:tblPr>
              <a:tblGrid>
                <a:gridCol w="3017520"/>
                <a:gridCol w="4114800"/>
                <a:gridCol w="3931920"/>
              </a:tblGrid>
              <a:tr h="566928">
                <a:tc>
                  <a:txBody>
                    <a:bodyPr wrap="square"/>
                    <a:lstStyle/>
                    <a:p>
                      <a:r>
                        <a:rPr sz="1400" b="1">
                          <a:solidFill>
                            <a:srgbClr val="FFFFFF"/>
                          </a:solidFill>
                          <a:latin typeface="Segoe UI"/>
                        </a:rPr>
                        <a:t>Original idea</a:t>
                      </a:r>
                    </a:p>
                  </a:txBody>
                  <a:tcPr marL="73152" marR="73152" anchor="ctr">
                    <a:solidFill>
                      <a:srgbClr val="12243D"/>
                    </a:solidFill>
                  </a:tcPr>
                </a:tc>
                <a:tc>
                  <a:txBody>
                    <a:bodyPr wrap="square"/>
                    <a:lstStyle/>
                    <a:p>
                      <a:r>
                        <a:rPr sz="1400" b="1">
                          <a:solidFill>
                            <a:srgbClr val="FFFFFF"/>
                          </a:solidFill>
                          <a:latin typeface="Segoe UI"/>
                        </a:rPr>
                        <a:t>Problem</a:t>
                      </a:r>
                    </a:p>
                  </a:txBody>
                  <a:tcPr marL="73152" marR="73152" anchor="ctr">
                    <a:solidFill>
                      <a:srgbClr val="12243D"/>
                    </a:solidFill>
                  </a:tcPr>
                </a:tc>
                <a:tc>
                  <a:txBody>
                    <a:bodyPr wrap="square"/>
                    <a:lstStyle/>
                    <a:p>
                      <a:r>
                        <a:rPr sz="1400" b="1">
                          <a:solidFill>
                            <a:srgbClr val="FFFFFF"/>
                          </a:solidFill>
                          <a:latin typeface="Segoe UI"/>
                        </a:rPr>
                        <a:t>Fix in final design</a:t>
                      </a:r>
                    </a:p>
                  </a:txBody>
                  <a:tcPr marL="73152" marR="73152" anchor="ctr">
                    <a:solidFill>
                      <a:srgbClr val="12243D"/>
                    </a:solidFill>
                  </a:tcPr>
                </a:tc>
              </a:tr>
              <a:tr h="566928">
                <a:tc>
                  <a:txBody>
                    <a:bodyPr wrap="square"/>
                    <a:lstStyle/>
                    <a:p>
                      <a:r>
                        <a:rPr sz="1400" b="1">
                          <a:solidFill>
                            <a:srgbClr val="0B0B0B"/>
                          </a:solidFill>
                          <a:latin typeface="Segoe UI"/>
                        </a:rPr>
                        <a:t>Encrypt 1 byte per ray</a:t>
                      </a:r>
                    </a:p>
                  </a:txBody>
                  <a:tcPr marL="73152" marR="73152" anchor="ctr">
                    <a:solidFill>
                      <a:srgbClr val="FCFCFB"/>
                    </a:solidFill>
                  </a:tcPr>
                </a:tc>
                <a:tc>
                  <a:txBody>
                    <a:bodyPr wrap="square"/>
                    <a:lstStyle/>
                    <a:p>
                      <a:r>
                        <a:rPr sz="1400" b="0">
                          <a:solidFill>
                            <a:srgbClr val="0B0B0B"/>
                          </a:solidFill>
                          <a:latin typeface="Segoe UI"/>
                        </a:rPr>
                        <a:t>Only 256 inputs → a lookup table breaks it</a:t>
                      </a:r>
                    </a:p>
                  </a:txBody>
                  <a:tcPr marL="73152" marR="73152" anchor="ctr">
                    <a:solidFill>
                      <a:srgbClr val="FCFCFB"/>
                    </a:solidFill>
                  </a:tcPr>
                </a:tc>
                <a:tc>
                  <a:txBody>
                    <a:bodyPr wrap="square"/>
                    <a:lstStyle/>
                    <a:p>
                      <a:r>
                        <a:rPr sz="1400" b="0">
                          <a:solidFill>
                            <a:srgbClr val="0B0B0B"/>
                          </a:solidFill>
                          <a:latin typeface="Segoe UI"/>
                        </a:rPr>
                        <a:t>128-bit blocks in a Feistel network</a:t>
                      </a:r>
                    </a:p>
                  </a:txBody>
                  <a:tcPr marL="73152" marR="73152" anchor="ctr">
                    <a:solidFill>
                      <a:srgbClr val="FCFCFB"/>
                    </a:solidFill>
                  </a:tcPr>
                </a:tc>
              </a:tr>
              <a:tr h="566928">
                <a:tc>
                  <a:txBody>
                    <a:bodyPr wrap="square"/>
                    <a:lstStyle/>
                    <a:p>
                      <a:r>
                        <a:rPr sz="1400" b="1">
                          <a:solidFill>
                            <a:srgbClr val="0B0B0B"/>
                          </a:solidFill>
                          <a:latin typeface="Segoe UI"/>
                        </a:rPr>
                        <a:t>Decrypt by tracing backwards</a:t>
                      </a:r>
                    </a:p>
                  </a:txBody>
                  <a:tcPr marL="73152" marR="73152" anchor="ctr">
                    <a:solidFill>
                      <a:srgbClr val="F3F2EF"/>
                    </a:solidFill>
                  </a:tcPr>
                </a:tc>
                <a:tc>
                  <a:txBody>
                    <a:bodyPr wrap="square"/>
                    <a:lstStyle/>
                    <a:p>
                      <a:r>
                        <a:rPr sz="1400" b="0">
                          <a:solidFill>
                            <a:srgbClr val="0B0B0B"/>
                          </a:solidFill>
                          <a:latin typeface="Segoe UI"/>
                        </a:rPr>
                        <a:t>Fixed-point rounding makes the path drift</a:t>
                      </a:r>
                    </a:p>
                  </a:txBody>
                  <a:tcPr marL="73152" marR="73152" anchor="ctr">
                    <a:solidFill>
                      <a:srgbClr val="F3F2EF"/>
                    </a:solidFill>
                  </a:tcPr>
                </a:tc>
                <a:tc>
                  <a:txBody>
                    <a:bodyPr wrap="square"/>
                    <a:lstStyle/>
                    <a:p>
                      <a:r>
                        <a:rPr sz="1400" b="0">
                          <a:solidFill>
                            <a:srgbClr val="0B0B0B"/>
                          </a:solidFill>
                          <a:latin typeface="Segoe UI"/>
                        </a:rPr>
                        <a:t>Feistel: F only ever runs forwards</a:t>
                      </a:r>
                    </a:p>
                  </a:txBody>
                  <a:tcPr marL="73152" marR="73152" anchor="ctr">
                    <a:solidFill>
                      <a:srgbClr val="F3F2EF"/>
                    </a:solidFill>
                  </a:tcPr>
                </a:tc>
              </a:tr>
              <a:tr h="566928">
                <a:tc>
                  <a:txBody>
                    <a:bodyPr wrap="square"/>
                    <a:lstStyle/>
                    <a:p>
                      <a:r>
                        <a:rPr sz="1400" b="1">
                          <a:solidFill>
                            <a:srgbClr val="0B0B0B"/>
                          </a:solidFill>
                          <a:latin typeface="Segoe UI"/>
                        </a:rPr>
                        <a:t>XOR with previous ciphertext</a:t>
                      </a:r>
                    </a:p>
                  </a:txBody>
                  <a:tcPr marL="73152" marR="73152" anchor="ctr">
                    <a:solidFill>
                      <a:srgbClr val="FCFCFB"/>
                    </a:solidFill>
                  </a:tcPr>
                </a:tc>
                <a:tc>
                  <a:txBody>
                    <a:bodyPr wrap="square"/>
                    <a:lstStyle/>
                    <a:p>
                      <a:r>
                        <a:rPr sz="1400" b="0">
                          <a:solidFill>
                            <a:srgbClr val="0B0B0B"/>
                          </a:solidFill>
                          <a:latin typeface="Segoe UI"/>
                        </a:rPr>
                        <a:t>Attacker can undo it; no IV</a:t>
                      </a:r>
                    </a:p>
                  </a:txBody>
                  <a:tcPr marL="73152" marR="73152" anchor="ctr">
                    <a:solidFill>
                      <a:srgbClr val="FCFCFB"/>
                    </a:solidFill>
                  </a:tcPr>
                </a:tc>
                <a:tc>
                  <a:txBody>
                    <a:bodyPr wrap="square"/>
                    <a:lstStyle/>
                    <a:p>
                      <a:r>
                        <a:rPr sz="1400" b="0">
                          <a:solidFill>
                            <a:srgbClr val="0B0B0B"/>
                          </a:solidFill>
                          <a:latin typeface="Segoe UI"/>
                        </a:rPr>
                        <a:t>CTR mode + random 96-bit nonce</a:t>
                      </a:r>
                    </a:p>
                  </a:txBody>
                  <a:tcPr marL="73152" marR="73152" anchor="ctr">
                    <a:solidFill>
                      <a:srgbClr val="FCFCFB"/>
                    </a:solidFill>
                  </a:tcPr>
                </a:tc>
              </a:tr>
              <a:tr h="566928">
                <a:tc>
                  <a:txBody>
                    <a:bodyPr wrap="square"/>
                    <a:lstStyle/>
                    <a:p>
                      <a:r>
                        <a:rPr sz="1400" b="1">
                          <a:solidFill>
                            <a:srgbClr val="0B0B0B"/>
                          </a:solidFill>
                          <a:latin typeface="Segoe UI"/>
                        </a:rPr>
                        <a:t>No integrity check</a:t>
                      </a:r>
                    </a:p>
                  </a:txBody>
                  <a:tcPr marL="73152" marR="73152" anchor="ctr">
                    <a:solidFill>
                      <a:srgbClr val="F3F2EF"/>
                    </a:solidFill>
                  </a:tcPr>
                </a:tc>
                <a:tc>
                  <a:txBody>
                    <a:bodyPr wrap="square"/>
                    <a:lstStyle/>
                    <a:p>
                      <a:r>
                        <a:rPr sz="1400" b="0">
                          <a:solidFill>
                            <a:srgbClr val="0B0B0B"/>
                          </a:solidFill>
                          <a:latin typeface="Segoe UI"/>
                        </a:rPr>
                        <a:t>Bits can be flipped silently</a:t>
                      </a:r>
                    </a:p>
                  </a:txBody>
                  <a:tcPr marL="73152" marR="73152" anchor="ctr">
                    <a:solidFill>
                      <a:srgbClr val="F3F2EF"/>
                    </a:solidFill>
                  </a:tcPr>
                </a:tc>
                <a:tc>
                  <a:txBody>
                    <a:bodyPr wrap="square"/>
                    <a:lstStyle/>
                    <a:p>
                      <a:r>
                        <a:rPr sz="1400" b="0">
                          <a:solidFill>
                            <a:srgbClr val="0B0B0B"/>
                          </a:solidFill>
                          <a:latin typeface="Segoe UI"/>
                        </a:rPr>
                        <a:t>Encrypt-then-MAC (HMAC-SHA256)</a:t>
                      </a:r>
                    </a:p>
                  </a:txBody>
                  <a:tcPr marL="73152" marR="73152" anchor="ctr">
                    <a:solidFill>
                      <a:srgbClr val="F3F2EF"/>
                    </a:solidFill>
                  </a:tcPr>
                </a:tc>
              </a:tr>
              <a:tr h="566928">
                <a:tc>
                  <a:txBody>
                    <a:bodyPr wrap="square"/>
                    <a:lstStyle/>
                    <a:p>
                      <a:r>
                        <a:rPr sz="1400" b="1">
                          <a:solidFill>
                            <a:srgbClr val="0B0B0B"/>
                          </a:solidFill>
                          <a:latin typeface="Segoe UI"/>
                        </a:rPr>
                        <a:t>Q16.16 range 100000–241700</a:t>
                      </a:r>
                    </a:p>
                  </a:txBody>
                  <a:tcPr marL="73152" marR="73152" anchor="ctr">
                    <a:solidFill>
                      <a:srgbClr val="FCFCFB"/>
                    </a:solidFill>
                  </a:tcPr>
                </a:tc>
                <a:tc>
                  <a:txBody>
                    <a:bodyPr wrap="square"/>
                    <a:lstStyle/>
                    <a:p>
                      <a:r>
                        <a:rPr sz="1400" b="0">
                          <a:solidFill>
                            <a:srgbClr val="0B0B0B"/>
                          </a:solidFill>
                          <a:latin typeface="Segoe UI"/>
                        </a:rPr>
                        <a:t>That's decimal scaling, not Q16.16</a:t>
                      </a:r>
                    </a:p>
                  </a:txBody>
                  <a:tcPr marL="73152" marR="73152" anchor="ctr">
                    <a:solidFill>
                      <a:srgbClr val="FCFCFB"/>
                    </a:solidFill>
                  </a:tcPr>
                </a:tc>
                <a:tc>
                  <a:txBody>
                    <a:bodyPr wrap="square"/>
                    <a:lstStyle/>
                    <a:p>
                      <a:r>
                        <a:rPr sz="1400" b="0">
                          <a:solidFill>
                            <a:srgbClr val="0B0B0B"/>
                          </a:solidFill>
                          <a:latin typeface="Segoe UI"/>
                        </a:rPr>
                        <a:t>65536–158401 (= 1.0–2.417)</a:t>
                      </a:r>
                    </a:p>
                  </a:txBody>
                  <a:tcPr marL="73152" marR="73152" anchor="ctr">
                    <a:solidFill>
                      <a:srgbClr val="FCFCFB"/>
                    </a:solidFill>
                  </a:tcPr>
                </a:tc>
              </a:tr>
              <a:tr h="566928">
                <a:tc>
                  <a:txBody>
                    <a:bodyPr wrap="square"/>
                    <a:lstStyle/>
                    <a:p>
                      <a:r>
                        <a:rPr sz="1400" b="1">
                          <a:solidFill>
                            <a:srgbClr val="0B0B0B"/>
                          </a:solidFill>
                          <a:latin typeface="Segoe UI"/>
                        </a:rPr>
                        <a:t>Security from chaos alone</a:t>
                      </a:r>
                    </a:p>
                  </a:txBody>
                  <a:tcPr marL="73152" marR="73152" anchor="ctr">
                    <a:solidFill>
                      <a:srgbClr val="F3F2EF"/>
                    </a:solidFill>
                  </a:tcPr>
                </a:tc>
                <a:tc>
                  <a:txBody>
                    <a:bodyPr wrap="square"/>
                    <a:lstStyle/>
                    <a:p>
                      <a:r>
                        <a:rPr sz="1400" b="0">
                          <a:solidFill>
                            <a:srgbClr val="0B0B0B"/>
                          </a:solidFill>
                          <a:latin typeface="Segoe UI"/>
                        </a:rPr>
                        <a:t>Fixed-point chaos falls into cycles</a:t>
                      </a:r>
                    </a:p>
                  </a:txBody>
                  <a:tcPr marL="73152" marR="73152" anchor="ctr">
                    <a:solidFill>
                      <a:srgbClr val="F3F2EF"/>
                    </a:solidFill>
                  </a:tcPr>
                </a:tc>
                <a:tc>
                  <a:txBody>
                    <a:bodyPr wrap="square"/>
                    <a:lstStyle/>
                    <a:p>
                      <a:r>
                        <a:rPr sz="1400" b="0">
                          <a:solidFill>
                            <a:srgbClr val="0B0B0B"/>
                          </a:solidFill>
                          <a:latin typeface="Segoe UI"/>
                        </a:rPr>
                        <a:t>Chaos ⊕ HMAC stream per cell</a:t>
                      </a:r>
                    </a:p>
                  </a:txBody>
                  <a:tcPr marL="73152" marR="73152" anchor="ctr">
                    <a:solidFill>
                      <a:srgbClr val="F3F2EF"/>
                    </a:solidFill>
                  </a:tcPr>
                </a:tc>
              </a:tr>
            </a:tbl>
          </a:graphicData>
        </a:graphic>
      </p:graphicFrame>
      <p:sp>
        <p:nvSpPr>
          <p:cNvPr id="6" name="TextBox 5"/>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a:solidFill>
                  <a:srgbClr val="8A8985"/>
                </a:solidFill>
                <a:latin typeface="Segoe UI"/>
              </a:rPr>
              <a:t>3D Chaotic Refractive Cipher  ·  Malladi Nagarjuna</a:t>
            </a:r>
          </a:p>
        </p:txBody>
      </p:sp>
      <p:sp>
        <p:nvSpPr>
          <p:cNvPr id="7" name="TextBox 6"/>
          <p:cNvSpPr txBox="1"/>
          <p:nvPr/>
        </p:nvSpPr>
        <p:spPr>
          <a:xfrm>
            <a:off x="10911535" y="6446520"/>
            <a:ext cx="822960" cy="274320"/>
          </a:xfrm>
          <a:prstGeom prst="rect">
            <a:avLst/>
          </a:prstGeom>
          <a:noFill/>
        </p:spPr>
        <p:txBody>
          <a:bodyPr wrap="square" anchor="t" lIns="45720" rIns="45720">
            <a:spAutoFit/>
          </a:bodyPr>
          <a:lstStyle/>
          <a:p>
            <a:pPr algn="r">
              <a:spcAft>
                <a:spcPts val="600"/>
              </a:spcAft>
            </a:pPr>
            <a:r>
              <a:rPr sz="1000" b="0">
                <a:solidFill>
                  <a:srgbClr val="8A8985"/>
                </a:solidFill>
                <a:latin typeface="Segoe U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365760"/>
          </a:xfrm>
          <a:prstGeom prst="rect">
            <a:avLst/>
          </a:prstGeom>
          <a:noFill/>
        </p:spPr>
        <p:txBody>
          <a:bodyPr wrap="square" anchor="t" lIns="45720" rIns="45720">
            <a:spAutoFit/>
          </a:bodyPr>
          <a:lstStyle/>
          <a:p>
            <a:pPr algn="l">
              <a:spcAft>
                <a:spcPts val="600"/>
              </a:spcAft>
            </a:pPr>
            <a:r>
              <a:rPr sz="1200" b="1">
                <a:solidFill>
                  <a:srgbClr val="2A78D6"/>
                </a:solidFill>
                <a:latin typeface="Segoe UI"/>
              </a:rPr>
              <a:t>HOW IT WORKS</a:t>
            </a:r>
          </a:p>
        </p:txBody>
      </p:sp>
      <p:sp>
        <p:nvSpPr>
          <p:cNvPr id="4" name="TextBox 3"/>
          <p:cNvSpPr txBox="1"/>
          <p:nvPr/>
        </p:nvSpPr>
        <p:spPr>
          <a:xfrm>
            <a:off x="548640" y="566928"/>
            <a:ext cx="10972800" cy="822960"/>
          </a:xfrm>
          <a:prstGeom prst="rect">
            <a:avLst/>
          </a:prstGeom>
          <a:noFill/>
        </p:spPr>
        <p:txBody>
          <a:bodyPr wrap="square" anchor="t" lIns="45720" rIns="45720">
            <a:spAutoFit/>
          </a:bodyPr>
          <a:lstStyle/>
          <a:p>
            <a:pPr algn="l">
              <a:spcAft>
                <a:spcPts val="600"/>
              </a:spcAft>
            </a:pPr>
            <a:r>
              <a:rPr sz="3000" b="1">
                <a:solidFill>
                  <a:srgbClr val="12243D"/>
                </a:solidFill>
                <a:latin typeface="Segoe UI"/>
              </a:rPr>
              <a:t>Architecture</a:t>
            </a:r>
          </a:p>
        </p:txBody>
      </p:sp>
      <p:sp>
        <p:nvSpPr>
          <p:cNvPr id="5" name="Rounded Rectangle 4"/>
          <p:cNvSpPr/>
          <p:nvPr/>
        </p:nvSpPr>
        <p:spPr>
          <a:xfrm>
            <a:off x="548640" y="1737360"/>
            <a:ext cx="1737360" cy="914400"/>
          </a:xfrm>
          <a:prstGeom prst="roundRect">
            <a:avLst>
              <a:gd name="adj" fmla="val 12000"/>
            </a:avLst>
          </a:prstGeom>
          <a:solidFill>
            <a:srgbClr val="12243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Segoe UI"/>
              </a:rPr>
              <a:t>256-bit key</a:t>
            </a:r>
          </a:p>
          <a:p>
            <a:pPr algn="ctr"/>
            <a:r>
              <a:rPr sz="1100" b="0">
                <a:solidFill>
                  <a:srgbClr val="B8C7DA"/>
                </a:solidFill>
                <a:latin typeface="Segoe UI"/>
              </a:rPr>
              <a:t>secret</a:t>
            </a:r>
          </a:p>
        </p:txBody>
      </p:sp>
      <p:sp>
        <p:nvSpPr>
          <p:cNvPr id="6" name="Right Arrow 5"/>
          <p:cNvSpPr/>
          <p:nvPr/>
        </p:nvSpPr>
        <p:spPr>
          <a:xfrm>
            <a:off x="2377440" y="2048256"/>
            <a:ext cx="411480" cy="292608"/>
          </a:xfrm>
          <a:prstGeom prst="rightArrow">
            <a:avLst/>
          </a:prstGeom>
          <a:solidFill>
            <a:srgbClr val="8A89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880360" y="1737360"/>
            <a:ext cx="1737360" cy="914400"/>
          </a:xfrm>
          <a:prstGeom prst="roundRect">
            <a:avLst>
              <a:gd name="adj" fmla="val 12000"/>
            </a:avLst>
          </a:prstGeom>
          <a:solidFill>
            <a:srgbClr val="E6EFF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2243D"/>
                </a:solidFill>
                <a:latin typeface="Segoe UI"/>
              </a:rPr>
              <a:t>HKDF-SHA256</a:t>
            </a:r>
          </a:p>
          <a:p>
            <a:pPr algn="ctr"/>
            <a:r>
              <a:rPr sz="1100" b="0">
                <a:solidFill>
                  <a:srgbClr val="52514E"/>
                </a:solidFill>
                <a:latin typeface="Segoe UI"/>
              </a:rPr>
              <a:t>key derivation</a:t>
            </a:r>
          </a:p>
        </p:txBody>
      </p:sp>
      <p:sp>
        <p:nvSpPr>
          <p:cNvPr id="8" name="Right Arrow 7"/>
          <p:cNvSpPr/>
          <p:nvPr/>
        </p:nvSpPr>
        <p:spPr>
          <a:xfrm>
            <a:off x="4709160" y="2048256"/>
            <a:ext cx="411480" cy="292608"/>
          </a:xfrm>
          <a:prstGeom prst="rightArrow">
            <a:avLst/>
          </a:prstGeom>
          <a:solidFill>
            <a:srgbClr val="8A89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212080" y="1737360"/>
            <a:ext cx="1554480" cy="914400"/>
          </a:xfrm>
          <a:prstGeom prst="roundRect">
            <a:avLst>
              <a:gd name="adj" fmla="val 12000"/>
            </a:avLst>
          </a:prstGeom>
          <a:solidFill>
            <a:srgbClr val="F3F2EF"/>
          </a:solidFill>
          <a:ln w="15875">
            <a:solidFill>
              <a:srgbClr val="E2E1D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2243D"/>
                </a:solidFill>
                <a:latin typeface="Segoe UI"/>
              </a:rPr>
              <a:t>Crystal</a:t>
            </a:r>
          </a:p>
          <a:p>
            <a:pPr algn="ctr"/>
            <a:r>
              <a:rPr sz="1100" b="0">
                <a:solidFill>
                  <a:srgbClr val="52514E"/>
                </a:solidFill>
                <a:latin typeface="Segoe UI"/>
              </a:rPr>
              <a:t>chaos ⊕ HMAC</a:t>
            </a:r>
          </a:p>
        </p:txBody>
      </p:sp>
      <p:sp>
        <p:nvSpPr>
          <p:cNvPr id="10" name="Rounded Rectangle 9"/>
          <p:cNvSpPr/>
          <p:nvPr/>
        </p:nvSpPr>
        <p:spPr>
          <a:xfrm>
            <a:off x="6903720" y="1737360"/>
            <a:ext cx="1554480" cy="914400"/>
          </a:xfrm>
          <a:prstGeom prst="roundRect">
            <a:avLst>
              <a:gd name="adj" fmla="val 12000"/>
            </a:avLst>
          </a:prstGeom>
          <a:solidFill>
            <a:srgbClr val="F3F2EF"/>
          </a:solidFill>
          <a:ln w="15875">
            <a:solidFill>
              <a:srgbClr val="E2E1D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2243D"/>
                </a:solidFill>
                <a:latin typeface="Segoe UI"/>
              </a:rPr>
              <a:t>S-box</a:t>
            </a:r>
          </a:p>
          <a:p>
            <a:pPr algn="ctr"/>
            <a:r>
              <a:rPr sz="1100" b="0">
                <a:solidFill>
                  <a:srgbClr val="52514E"/>
                </a:solidFill>
                <a:latin typeface="Segoe UI"/>
              </a:rPr>
              <a:t>key shuffle</a:t>
            </a:r>
          </a:p>
        </p:txBody>
      </p:sp>
      <p:sp>
        <p:nvSpPr>
          <p:cNvPr id="11" name="Rounded Rectangle 10"/>
          <p:cNvSpPr/>
          <p:nvPr/>
        </p:nvSpPr>
        <p:spPr>
          <a:xfrm>
            <a:off x="8595360" y="1737360"/>
            <a:ext cx="1554480" cy="914400"/>
          </a:xfrm>
          <a:prstGeom prst="roundRect">
            <a:avLst>
              <a:gd name="adj" fmla="val 12000"/>
            </a:avLst>
          </a:prstGeom>
          <a:solidFill>
            <a:srgbClr val="F3F2EF"/>
          </a:solidFill>
          <a:ln w="15875">
            <a:solidFill>
              <a:srgbClr val="E2E1D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2243D"/>
                </a:solidFill>
                <a:latin typeface="Segoe UI"/>
              </a:rPr>
              <a:t>16 round keys</a:t>
            </a:r>
          </a:p>
          <a:p>
            <a:pPr algn="ctr"/>
            <a:r>
              <a:rPr sz="1100" b="0">
                <a:solidFill>
                  <a:srgbClr val="52514E"/>
                </a:solidFill>
                <a:latin typeface="Segoe UI"/>
              </a:rPr>
              <a:t>64-bit each</a:t>
            </a:r>
          </a:p>
        </p:txBody>
      </p:sp>
      <p:sp>
        <p:nvSpPr>
          <p:cNvPr id="12" name="Rounded Rectangle 11"/>
          <p:cNvSpPr/>
          <p:nvPr/>
        </p:nvSpPr>
        <p:spPr>
          <a:xfrm>
            <a:off x="10287000" y="1737360"/>
            <a:ext cx="1554480" cy="914400"/>
          </a:xfrm>
          <a:prstGeom prst="roundRect">
            <a:avLst>
              <a:gd name="adj" fmla="val 12000"/>
            </a:avLst>
          </a:prstGeom>
          <a:solidFill>
            <a:srgbClr val="F3F2EF"/>
          </a:solidFill>
          <a:ln w="15875">
            <a:solidFill>
              <a:srgbClr val="E2E1DD"/>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2243D"/>
                </a:solidFill>
                <a:latin typeface="Segoe UI"/>
              </a:rPr>
              <a:t>MAC key</a:t>
            </a:r>
          </a:p>
          <a:p>
            <a:pPr algn="ctr"/>
            <a:r>
              <a:rPr sz="1100" b="0">
                <a:solidFill>
                  <a:srgbClr val="52514E"/>
                </a:solidFill>
                <a:latin typeface="Segoe UI"/>
              </a:rPr>
              <a:t>256-bit</a:t>
            </a:r>
          </a:p>
        </p:txBody>
      </p:sp>
      <p:sp>
        <p:nvSpPr>
          <p:cNvPr id="13" name="Down Arrow 12"/>
          <p:cNvSpPr/>
          <p:nvPr/>
        </p:nvSpPr>
        <p:spPr>
          <a:xfrm>
            <a:off x="6766560" y="2788920"/>
            <a:ext cx="292608" cy="365760"/>
          </a:xfrm>
          <a:prstGeom prst="downArrow">
            <a:avLst/>
          </a:prstGeom>
          <a:solidFill>
            <a:srgbClr val="8A89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212080" y="3429000"/>
            <a:ext cx="3291840" cy="914400"/>
          </a:xfrm>
          <a:prstGeom prst="roundRect">
            <a:avLst>
              <a:gd name="adj" fmla="val 12000"/>
            </a:avLst>
          </a:prstGeom>
          <a:solidFill>
            <a:srgbClr val="E6EFF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2243D"/>
                </a:solidFill>
                <a:latin typeface="Segoe UI"/>
              </a:rPr>
              <a:t>Ray tracer = round function F</a:t>
            </a:r>
          </a:p>
          <a:p>
            <a:pPr algn="ctr"/>
            <a:r>
              <a:rPr sz="1100" b="0">
                <a:solidFill>
                  <a:srgbClr val="52514E"/>
                </a:solidFill>
                <a:latin typeface="Segoe UI"/>
              </a:rPr>
              <a:t>48 refraction / TIR events + S-box</a:t>
            </a:r>
          </a:p>
        </p:txBody>
      </p:sp>
      <p:sp>
        <p:nvSpPr>
          <p:cNvPr id="15" name="Right Arrow 14"/>
          <p:cNvSpPr/>
          <p:nvPr/>
        </p:nvSpPr>
        <p:spPr>
          <a:xfrm>
            <a:off x="8595360" y="3739896"/>
            <a:ext cx="411480" cy="292608"/>
          </a:xfrm>
          <a:prstGeom prst="rightArrow">
            <a:avLst/>
          </a:prstGeom>
          <a:solidFill>
            <a:srgbClr val="8A89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098280" y="3429000"/>
            <a:ext cx="2514600" cy="914400"/>
          </a:xfrm>
          <a:prstGeom prst="roundRect">
            <a:avLst>
              <a:gd name="adj" fmla="val 12000"/>
            </a:avLst>
          </a:prstGeom>
          <a:solidFill>
            <a:srgbClr val="E6EFF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2243D"/>
                </a:solidFill>
                <a:latin typeface="Segoe UI"/>
              </a:rPr>
              <a:t>16-round Feistel</a:t>
            </a:r>
          </a:p>
          <a:p>
            <a:pPr algn="ctr"/>
            <a:r>
              <a:rPr sz="1100" b="0">
                <a:solidFill>
                  <a:srgbClr val="52514E"/>
                </a:solidFill>
                <a:latin typeface="Segoe UI"/>
              </a:rPr>
              <a:t>128-bit block cipher</a:t>
            </a:r>
          </a:p>
        </p:txBody>
      </p:sp>
      <p:sp>
        <p:nvSpPr>
          <p:cNvPr id="17" name="Down Arrow 16"/>
          <p:cNvSpPr/>
          <p:nvPr/>
        </p:nvSpPr>
        <p:spPr>
          <a:xfrm>
            <a:off x="10195560" y="4480560"/>
            <a:ext cx="292608" cy="365760"/>
          </a:xfrm>
          <a:prstGeom prst="downArrow">
            <a:avLst/>
          </a:prstGeom>
          <a:solidFill>
            <a:srgbClr val="8A89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212080" y="4983480"/>
            <a:ext cx="3291840" cy="868680"/>
          </a:xfrm>
          <a:prstGeom prst="roundRect">
            <a:avLst>
              <a:gd name="adj" fmla="val 12000"/>
            </a:avLst>
          </a:prstGeom>
          <a:solidFill>
            <a:srgbClr val="E6F4E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2243D"/>
                </a:solidFill>
                <a:latin typeface="Segoe UI"/>
              </a:rPr>
              <a:t>HMAC-SHA256 tag</a:t>
            </a:r>
          </a:p>
          <a:p>
            <a:pPr algn="ctr"/>
            <a:r>
              <a:rPr sz="1100" b="0">
                <a:solidFill>
                  <a:srgbClr val="52514E"/>
                </a:solidFill>
                <a:latin typeface="Segoe UI"/>
              </a:rPr>
              <a:t>tamper detection</a:t>
            </a:r>
          </a:p>
        </p:txBody>
      </p:sp>
      <p:sp>
        <p:nvSpPr>
          <p:cNvPr id="19" name="Left Arrow 18"/>
          <p:cNvSpPr/>
          <p:nvPr/>
        </p:nvSpPr>
        <p:spPr>
          <a:xfrm>
            <a:off x="8595360" y="5276088"/>
            <a:ext cx="411480" cy="292608"/>
          </a:xfrm>
          <a:prstGeom prst="leftArrow">
            <a:avLst/>
          </a:prstGeom>
          <a:solidFill>
            <a:srgbClr val="8A89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098280" y="4983480"/>
            <a:ext cx="2514600" cy="868680"/>
          </a:xfrm>
          <a:prstGeom prst="roundRect">
            <a:avLst>
              <a:gd name="adj" fmla="val 12000"/>
            </a:avLst>
          </a:prstGeom>
          <a:solidFill>
            <a:srgbClr val="E6EFF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2243D"/>
                </a:solidFill>
                <a:latin typeface="Segoe UI"/>
              </a:rPr>
              <a:t>CTR mode</a:t>
            </a:r>
          </a:p>
          <a:p>
            <a:pPr algn="ctr"/>
            <a:r>
              <a:rPr sz="1100" b="0">
                <a:solidFill>
                  <a:srgbClr val="52514E"/>
                </a:solidFill>
                <a:latin typeface="Segoe UI"/>
              </a:rPr>
              <a:t>nonce ‖ counter → keystream</a:t>
            </a:r>
          </a:p>
        </p:txBody>
      </p:sp>
      <p:sp>
        <p:nvSpPr>
          <p:cNvPr id="21" name="TextBox 20"/>
          <p:cNvSpPr txBox="1"/>
          <p:nvPr/>
        </p:nvSpPr>
        <p:spPr>
          <a:xfrm>
            <a:off x="548640" y="3429000"/>
            <a:ext cx="4389120" cy="2377440"/>
          </a:xfrm>
          <a:prstGeom prst="rect">
            <a:avLst/>
          </a:prstGeom>
          <a:noFill/>
        </p:spPr>
        <p:txBody>
          <a:bodyPr wrap="square" anchor="t" lIns="45720" rIns="45720">
            <a:spAutoFit/>
          </a:bodyPr>
          <a:lstStyle/>
          <a:p>
            <a:pPr algn="l">
              <a:spcAft>
                <a:spcPts val="600"/>
              </a:spcAft>
            </a:pPr>
            <a:r>
              <a:rPr sz="1600" b="1">
                <a:solidFill>
                  <a:srgbClr val="12243D"/>
                </a:solidFill>
                <a:latin typeface="Segoe UI"/>
              </a:rPr>
              <a:t>Encrypted file</a:t>
            </a:r>
          </a:p>
          <a:p>
            <a:pPr algn="l">
              <a:spcAft>
                <a:spcPts val="600"/>
              </a:spcAft>
            </a:pPr>
            <a:r>
              <a:rPr sz="1400" b="0">
                <a:solidFill>
                  <a:srgbClr val="52514E"/>
                </a:solidFill>
                <a:latin typeface="Consolas"/>
              </a:rPr>
              <a:t>"RFC1" ‖ nonce (12 B) ‖ ciphertext ‖ tag (32 B)</a:t>
            </a:r>
          </a:p>
          <a:p>
            <a:pPr algn="l">
              <a:spcAft>
                <a:spcPts val="600"/>
              </a:spcAft>
            </a:pPr>
            <a:r>
              <a:rPr sz="1400" b="0">
                <a:solidFill>
                  <a:srgbClr val="52514E"/>
                </a:solidFill>
                <a:latin typeface="Segoe UI"/>
              </a:rPr>
              <a:t>Always exactly 48 bytes bigger than the original.</a:t>
            </a:r>
          </a:p>
        </p:txBody>
      </p:sp>
      <p:sp>
        <p:nvSpPr>
          <p:cNvPr id="22" name="TextBox 21"/>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a:solidFill>
                  <a:srgbClr val="8A8985"/>
                </a:solidFill>
                <a:latin typeface="Segoe UI"/>
              </a:rPr>
              <a:t>3D Chaotic Refractive Cipher  ·  Malladi Nagarjuna</a:t>
            </a:r>
          </a:p>
        </p:txBody>
      </p:sp>
      <p:sp>
        <p:nvSpPr>
          <p:cNvPr id="23" name="TextBox 22"/>
          <p:cNvSpPr txBox="1"/>
          <p:nvPr/>
        </p:nvSpPr>
        <p:spPr>
          <a:xfrm>
            <a:off x="10911535" y="6446520"/>
            <a:ext cx="822960" cy="274320"/>
          </a:xfrm>
          <a:prstGeom prst="rect">
            <a:avLst/>
          </a:prstGeom>
          <a:noFill/>
        </p:spPr>
        <p:txBody>
          <a:bodyPr wrap="square" anchor="t" lIns="45720" rIns="45720">
            <a:spAutoFit/>
          </a:bodyPr>
          <a:lstStyle/>
          <a:p>
            <a:pPr algn="r">
              <a:spcAft>
                <a:spcPts val="600"/>
              </a:spcAft>
            </a:pPr>
            <a:r>
              <a:rPr sz="1000" b="0">
                <a:solidFill>
                  <a:srgbClr val="8A8985"/>
                </a:solidFill>
                <a:latin typeface="Segoe U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365760"/>
          </a:xfrm>
          <a:prstGeom prst="rect">
            <a:avLst/>
          </a:prstGeom>
          <a:noFill/>
        </p:spPr>
        <p:txBody>
          <a:bodyPr wrap="square" anchor="t" lIns="45720" rIns="45720">
            <a:spAutoFit/>
          </a:bodyPr>
          <a:lstStyle/>
          <a:p>
            <a:pPr algn="l">
              <a:spcAft>
                <a:spcPts val="600"/>
              </a:spcAft>
            </a:pPr>
            <a:r>
              <a:rPr sz="1200" b="1">
                <a:solidFill>
                  <a:srgbClr val="2A78D6"/>
                </a:solidFill>
                <a:latin typeface="Segoe UI"/>
              </a:rPr>
              <a:t>KEY SCHEDULE</a:t>
            </a:r>
          </a:p>
        </p:txBody>
      </p:sp>
      <p:sp>
        <p:nvSpPr>
          <p:cNvPr id="4" name="TextBox 3"/>
          <p:cNvSpPr txBox="1"/>
          <p:nvPr/>
        </p:nvSpPr>
        <p:spPr>
          <a:xfrm>
            <a:off x="548640" y="566928"/>
            <a:ext cx="10972800" cy="822960"/>
          </a:xfrm>
          <a:prstGeom prst="rect">
            <a:avLst/>
          </a:prstGeom>
          <a:noFill/>
        </p:spPr>
        <p:txBody>
          <a:bodyPr wrap="square" anchor="t" lIns="45720" rIns="45720">
            <a:spAutoFit/>
          </a:bodyPr>
          <a:lstStyle/>
          <a:p>
            <a:pPr algn="l">
              <a:spcAft>
                <a:spcPts val="600"/>
              </a:spcAft>
            </a:pPr>
            <a:r>
              <a:rPr sz="3000" b="1">
                <a:solidFill>
                  <a:srgbClr val="12243D"/>
                </a:solidFill>
                <a:latin typeface="Segoe UI"/>
              </a:rPr>
              <a:t>Growing the secret crystal</a:t>
            </a:r>
          </a:p>
        </p:txBody>
      </p:sp>
      <p:sp>
        <p:nvSpPr>
          <p:cNvPr id="5" name="TextBox 4"/>
          <p:cNvSpPr txBox="1"/>
          <p:nvPr/>
        </p:nvSpPr>
        <p:spPr>
          <a:xfrm>
            <a:off x="548640" y="1554480"/>
            <a:ext cx="5852160" cy="4480560"/>
          </a:xfrm>
          <a:prstGeom prst="rect">
            <a:avLst/>
          </a:prstGeom>
          <a:noFill/>
        </p:spPr>
        <p:txBody>
          <a:bodyPr wrap="square">
            <a:spAutoFit/>
          </a:bodyPr>
          <a:lstStyle/>
          <a:p>
            <a:pPr>
              <a:spcAft>
                <a:spcPts val="800"/>
              </a:spcAft>
            </a:pPr>
            <a:r>
              <a:rPr sz="1700">
                <a:solidFill>
                  <a:srgbClr val="2A78D6"/>
                </a:solidFill>
                <a:latin typeface="Segoe UI"/>
              </a:rPr>
              <a:t>•  </a:t>
            </a:r>
            <a:r>
              <a:rPr b="1" sz="1700">
                <a:solidFill>
                  <a:srgbClr val="0B0B0B"/>
                </a:solidFill>
                <a:latin typeface="Segoe UI"/>
              </a:rPr>
              <a:t>HKDF-SHA256</a:t>
            </a:r>
            <a:r>
              <a:rPr sz="1700">
                <a:solidFill>
                  <a:srgbClr val="0B0B0B"/>
                </a:solidFill>
                <a:latin typeface="Segoe UI"/>
              </a:rPr>
              <a:t> turns one key into independent subkeys (labels: grid, sbox, round, mac)</a:t>
            </a:r>
          </a:p>
          <a:p>
            <a:pPr>
              <a:spcAft>
                <a:spcPts val="800"/>
              </a:spcAft>
            </a:pPr>
            <a:r>
              <a:rPr sz="1700">
                <a:solidFill>
                  <a:srgbClr val="2A78D6"/>
                </a:solidFill>
                <a:latin typeface="Segoe UI"/>
              </a:rPr>
              <a:t>•  </a:t>
            </a:r>
            <a:r>
              <a:rPr b="1" sz="1700">
                <a:solidFill>
                  <a:srgbClr val="0B0B0B"/>
                </a:solidFill>
                <a:latin typeface="Segoe UI"/>
              </a:rPr>
              <a:t>4D hyperchaotic Lorenz system</a:t>
            </a:r>
            <a:r>
              <a:rPr sz="1700">
                <a:solidFill>
                  <a:srgbClr val="0B0B0B"/>
                </a:solidFill>
                <a:latin typeface="Segoe UI"/>
              </a:rPr>
              <a:t>, integrated with fixed-point RK4</a:t>
            </a:r>
          </a:p>
          <a:p>
            <a:pPr lvl="1">
              <a:spcAft>
                <a:spcPts val="400"/>
              </a:spcAft>
            </a:pPr>
            <a:r>
              <a:rPr sz="1400">
                <a:solidFill>
                  <a:srgbClr val="2A78D6"/>
                </a:solidFill>
                <a:latin typeface="Segoe UI"/>
              </a:rPr>
              <a:t>–  </a:t>
            </a:r>
            <a:r>
              <a:rPr sz="1400">
                <a:solidFill>
                  <a:srgbClr val="52514E"/>
                </a:solidFill>
                <a:latin typeface="Segoe UI"/>
              </a:rPr>
              <a:t>ẋ = a(y−x)+w,  ẏ = cx−y−xz,  ż = xy−bz,  ẇ = −yz+rw</a:t>
            </a:r>
          </a:p>
          <a:p>
            <a:pPr>
              <a:spcAft>
                <a:spcPts val="800"/>
              </a:spcAft>
            </a:pPr>
            <a:r>
              <a:rPr sz="1700">
                <a:solidFill>
                  <a:srgbClr val="2A78D6"/>
                </a:solidFill>
                <a:latin typeface="Segoe UI"/>
              </a:rPr>
              <a:t>•  </a:t>
            </a:r>
            <a:r>
              <a:rPr b="1" sz="1700">
                <a:solidFill>
                  <a:srgbClr val="0B0B0B"/>
                </a:solidFill>
                <a:latin typeface="Segoe UI"/>
              </a:rPr>
              <a:t>Each cell:</a:t>
            </a:r>
            <a:r>
              <a:rPr sz="1700">
                <a:solidFill>
                  <a:srgbClr val="0B0B0B"/>
                </a:solidFill>
                <a:latin typeface="Segoe UI"/>
              </a:rPr>
              <a:t> chaos sample ⊕ HMAC stream → n ∈ [1.0, 2.417]</a:t>
            </a:r>
          </a:p>
          <a:p>
            <a:pPr>
              <a:spcAft>
                <a:spcPts val="800"/>
              </a:spcAft>
            </a:pPr>
            <a:r>
              <a:rPr sz="1700">
                <a:solidFill>
                  <a:srgbClr val="2A78D6"/>
                </a:solidFill>
                <a:latin typeface="Segoe UI"/>
              </a:rPr>
              <a:t>•  </a:t>
            </a:r>
            <a:r>
              <a:rPr b="1" sz="1700">
                <a:solidFill>
                  <a:srgbClr val="0B0B0B"/>
                </a:solidFill>
                <a:latin typeface="Segoe UI"/>
              </a:rPr>
              <a:t>Q16.16 fixed-point:</a:t>
            </a:r>
            <a:r>
              <a:rPr sz="1700">
                <a:solidFill>
                  <a:srgbClr val="0B0B0B"/>
                </a:solidFill>
                <a:latin typeface="Segoe UI"/>
              </a:rPr>
              <a:t> value × 65536 stored as an integer</a:t>
            </a:r>
          </a:p>
          <a:p>
            <a:pPr lvl="1">
              <a:spcAft>
                <a:spcPts val="400"/>
              </a:spcAft>
            </a:pPr>
            <a:r>
              <a:rPr sz="1400">
                <a:solidFill>
                  <a:srgbClr val="2A78D6"/>
                </a:solidFill>
                <a:latin typeface="Segoe UI"/>
              </a:rPr>
              <a:t>–  </a:t>
            </a:r>
            <a:r>
              <a:rPr sz="1400">
                <a:solidFill>
                  <a:srgbClr val="52514E"/>
                </a:solidFill>
                <a:latin typeface="Segoe UI"/>
              </a:rPr>
              <a:t>bit-identical results on every CPU (floats are not)</a:t>
            </a:r>
          </a:p>
          <a:p>
            <a:pPr>
              <a:spcAft>
                <a:spcPts val="800"/>
              </a:spcAft>
            </a:pPr>
            <a:r>
              <a:rPr sz="1700">
                <a:solidFill>
                  <a:srgbClr val="2A78D6"/>
                </a:solidFill>
                <a:latin typeface="Segoe UI"/>
              </a:rPr>
              <a:t>•  </a:t>
            </a:r>
            <a:r>
              <a:rPr b="1" sz="1700">
                <a:solidFill>
                  <a:srgbClr val="0B0B0B"/>
                </a:solidFill>
                <a:latin typeface="Segoe UI"/>
              </a:rPr>
              <a:t>Key avalanche:</a:t>
            </a:r>
            <a:r>
              <a:rPr sz="1700">
                <a:solidFill>
                  <a:srgbClr val="0B0B0B"/>
                </a:solidFill>
                <a:latin typeface="Segoe UI"/>
              </a:rPr>
              <a:t> 1 key bit flipped → 100% of cells change</a:t>
            </a:r>
          </a:p>
        </p:txBody>
      </p:sp>
      <p:graphicFrame>
        <p:nvGraphicFramePr>
          <p:cNvPr id="6" name="Table 5"/>
          <p:cNvGraphicFramePr>
            <a:graphicFrameLocks noGrp="1"/>
          </p:cNvGraphicFramePr>
          <p:nvPr/>
        </p:nvGraphicFramePr>
        <p:xfrm>
          <a:off x="6766560" y="1737360"/>
          <a:ext cx="4846320" cy="2286000"/>
        </p:xfrm>
        <a:graphic>
          <a:graphicData uri="http://schemas.openxmlformats.org/drawingml/2006/table">
            <a:tbl>
              <a:tblPr firstRow="1" bandRow="1">
                <a:tableStyleId>{5C22544A-7EE6-4342-B048-85BDC9FD1C3A}</a:tableStyleId>
              </a:tblPr>
              <a:tblGrid>
                <a:gridCol w="1828800"/>
                <a:gridCol w="3017520"/>
              </a:tblGrid>
              <a:tr h="457200">
                <a:tc>
                  <a:txBody>
                    <a:bodyPr wrap="square"/>
                    <a:lstStyle/>
                    <a:p>
                      <a:r>
                        <a:rPr sz="1400" b="1">
                          <a:solidFill>
                            <a:srgbClr val="FFFFFF"/>
                          </a:solidFill>
                          <a:latin typeface="Segoe UI"/>
                        </a:rPr>
                        <a:t>Real value</a:t>
                      </a:r>
                    </a:p>
                  </a:txBody>
                  <a:tcPr marL="73152" marR="73152" anchor="ctr">
                    <a:solidFill>
                      <a:srgbClr val="12243D"/>
                    </a:solidFill>
                  </a:tcPr>
                </a:tc>
                <a:tc>
                  <a:txBody>
                    <a:bodyPr wrap="square"/>
                    <a:lstStyle/>
                    <a:p>
                      <a:r>
                        <a:rPr sz="1400" b="1">
                          <a:solidFill>
                            <a:srgbClr val="FFFFFF"/>
                          </a:solidFill>
                          <a:latin typeface="Segoe UI"/>
                        </a:rPr>
                        <a:t>Q16.16 integer</a:t>
                      </a:r>
                    </a:p>
                  </a:txBody>
                  <a:tcPr marL="73152" marR="73152" anchor="ctr">
                    <a:solidFill>
                      <a:srgbClr val="12243D"/>
                    </a:solidFill>
                  </a:tcPr>
                </a:tc>
              </a:tr>
              <a:tr h="457200">
                <a:tc>
                  <a:txBody>
                    <a:bodyPr wrap="square"/>
                    <a:lstStyle/>
                    <a:p>
                      <a:r>
                        <a:rPr sz="1400" b="1">
                          <a:solidFill>
                            <a:srgbClr val="0B0B0B"/>
                          </a:solidFill>
                          <a:latin typeface="Segoe UI"/>
                        </a:rPr>
                        <a:t>1.0</a:t>
                      </a:r>
                    </a:p>
                  </a:txBody>
                  <a:tcPr marL="73152" marR="73152" anchor="ctr">
                    <a:solidFill>
                      <a:srgbClr val="FCFCFB"/>
                    </a:solidFill>
                  </a:tcPr>
                </a:tc>
                <a:tc>
                  <a:txBody>
                    <a:bodyPr wrap="square"/>
                    <a:lstStyle/>
                    <a:p>
                      <a:r>
                        <a:rPr sz="1400" b="0">
                          <a:solidFill>
                            <a:srgbClr val="0B0B0B"/>
                          </a:solidFill>
                          <a:latin typeface="Segoe UI"/>
                        </a:rPr>
                        <a:t>65,536</a:t>
                      </a:r>
                    </a:p>
                  </a:txBody>
                  <a:tcPr marL="73152" marR="73152" anchor="ctr">
                    <a:solidFill>
                      <a:srgbClr val="FCFCFB"/>
                    </a:solidFill>
                  </a:tcPr>
                </a:tc>
              </a:tr>
              <a:tr h="457200">
                <a:tc>
                  <a:txBody>
                    <a:bodyPr wrap="square"/>
                    <a:lstStyle/>
                    <a:p>
                      <a:r>
                        <a:rPr sz="1400" b="1">
                          <a:solidFill>
                            <a:srgbClr val="0B0B0B"/>
                          </a:solidFill>
                          <a:latin typeface="Segoe UI"/>
                        </a:rPr>
                        <a:t>1.5</a:t>
                      </a:r>
                    </a:p>
                  </a:txBody>
                  <a:tcPr marL="73152" marR="73152" anchor="ctr">
                    <a:solidFill>
                      <a:srgbClr val="F3F2EF"/>
                    </a:solidFill>
                  </a:tcPr>
                </a:tc>
                <a:tc>
                  <a:txBody>
                    <a:bodyPr wrap="square"/>
                    <a:lstStyle/>
                    <a:p>
                      <a:r>
                        <a:rPr sz="1400" b="0">
                          <a:solidFill>
                            <a:srgbClr val="0B0B0B"/>
                          </a:solidFill>
                          <a:latin typeface="Segoe UI"/>
                        </a:rPr>
                        <a:t>98,304</a:t>
                      </a:r>
                    </a:p>
                  </a:txBody>
                  <a:tcPr marL="73152" marR="73152" anchor="ctr">
                    <a:solidFill>
                      <a:srgbClr val="F3F2EF"/>
                    </a:solidFill>
                  </a:tcPr>
                </a:tc>
              </a:tr>
              <a:tr h="457200">
                <a:tc>
                  <a:txBody>
                    <a:bodyPr wrap="square"/>
                    <a:lstStyle/>
                    <a:p>
                      <a:r>
                        <a:rPr sz="1400" b="1">
                          <a:solidFill>
                            <a:srgbClr val="0B0B0B"/>
                          </a:solidFill>
                          <a:latin typeface="Segoe UI"/>
                        </a:rPr>
                        <a:t>2.417 (diamond)</a:t>
                      </a:r>
                    </a:p>
                  </a:txBody>
                  <a:tcPr marL="73152" marR="73152" anchor="ctr">
                    <a:solidFill>
                      <a:srgbClr val="FCFCFB"/>
                    </a:solidFill>
                  </a:tcPr>
                </a:tc>
                <a:tc>
                  <a:txBody>
                    <a:bodyPr wrap="square"/>
                    <a:lstStyle/>
                    <a:p>
                      <a:r>
                        <a:rPr sz="1400" b="0">
                          <a:solidFill>
                            <a:srgbClr val="0B0B0B"/>
                          </a:solidFill>
                          <a:latin typeface="Segoe UI"/>
                        </a:rPr>
                        <a:t>158,401</a:t>
                      </a:r>
                    </a:p>
                  </a:txBody>
                  <a:tcPr marL="73152" marR="73152" anchor="ctr">
                    <a:solidFill>
                      <a:srgbClr val="FCFCFB"/>
                    </a:solidFill>
                  </a:tcPr>
                </a:tc>
              </a:tr>
              <a:tr h="457200">
                <a:tc>
                  <a:txBody>
                    <a:bodyPr wrap="square"/>
                    <a:lstStyle/>
                    <a:p>
                      <a:r>
                        <a:rPr sz="1400" b="1">
                          <a:solidFill>
                            <a:srgbClr val="0B0B0B"/>
                          </a:solidFill>
                          <a:latin typeface="Segoe UI"/>
                        </a:rPr>
                        <a:t>1.5 × 1.5</a:t>
                      </a:r>
                    </a:p>
                  </a:txBody>
                  <a:tcPr marL="73152" marR="73152" anchor="ctr">
                    <a:solidFill>
                      <a:srgbClr val="F3F2EF"/>
                    </a:solidFill>
                  </a:tcPr>
                </a:tc>
                <a:tc>
                  <a:txBody>
                    <a:bodyPr wrap="square"/>
                    <a:lstStyle/>
                    <a:p>
                      <a:r>
                        <a:rPr sz="1400" b="0">
                          <a:solidFill>
                            <a:srgbClr val="0B0B0B"/>
                          </a:solidFill>
                          <a:latin typeface="Segoe UI"/>
                        </a:rPr>
                        <a:t>(98304² ≫ 16) = 147,456 = 2.25</a:t>
                      </a:r>
                    </a:p>
                  </a:txBody>
                  <a:tcPr marL="73152" marR="73152" anchor="ctr">
                    <a:solidFill>
                      <a:srgbClr val="F3F2EF"/>
                    </a:solidFill>
                  </a:tcPr>
                </a:tc>
              </a:tr>
            </a:tbl>
          </a:graphicData>
        </a:graphic>
      </p:graphicFrame>
      <p:sp>
        <p:nvSpPr>
          <p:cNvPr id="7" name="TextBox 6"/>
          <p:cNvSpPr txBox="1"/>
          <p:nvPr/>
        </p:nvSpPr>
        <p:spPr>
          <a:xfrm>
            <a:off x="6766560" y="4297680"/>
            <a:ext cx="4846320" cy="1280160"/>
          </a:xfrm>
          <a:prstGeom prst="rect">
            <a:avLst/>
          </a:prstGeom>
          <a:noFill/>
        </p:spPr>
        <p:txBody>
          <a:bodyPr wrap="square" anchor="t" lIns="45720" rIns="45720">
            <a:spAutoFit/>
          </a:bodyPr>
          <a:lstStyle/>
          <a:p>
            <a:pPr algn="l">
              <a:spcAft>
                <a:spcPts val="600"/>
              </a:spcAft>
            </a:pPr>
            <a:r>
              <a:rPr sz="1500" b="1">
                <a:solidFill>
                  <a:srgbClr val="12243D"/>
                </a:solidFill>
                <a:latin typeface="Segoe UI"/>
              </a:rPr>
              <a:t>Why not floats?</a:t>
            </a:r>
          </a:p>
          <a:p>
            <a:pPr algn="l">
              <a:spcAft>
                <a:spcPts val="600"/>
              </a:spcAft>
            </a:pPr>
            <a:r>
              <a:rPr sz="1400" b="0">
                <a:solidFill>
                  <a:srgbClr val="52514E"/>
                </a:solidFill>
                <a:latin typeface="Segoe UI"/>
              </a:rPr>
              <a:t>x86, ARM and different compilers round floats slightly differently. One bit off in the crystal = a file that can never be decrypted on another machine.</a:t>
            </a:r>
          </a:p>
        </p:txBody>
      </p:sp>
      <p:sp>
        <p:nvSpPr>
          <p:cNvPr id="8" name="TextBox 7"/>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a:solidFill>
                  <a:srgbClr val="8A8985"/>
                </a:solidFill>
                <a:latin typeface="Segoe UI"/>
              </a:rPr>
              <a:t>3D Chaotic Refractive Cipher  ·  Malladi Nagarjuna</a:t>
            </a:r>
          </a:p>
        </p:txBody>
      </p:sp>
      <p:sp>
        <p:nvSpPr>
          <p:cNvPr id="9" name="TextBox 8"/>
          <p:cNvSpPr txBox="1"/>
          <p:nvPr/>
        </p:nvSpPr>
        <p:spPr>
          <a:xfrm>
            <a:off x="10911535" y="6446520"/>
            <a:ext cx="822960" cy="274320"/>
          </a:xfrm>
          <a:prstGeom prst="rect">
            <a:avLst/>
          </a:prstGeom>
          <a:noFill/>
        </p:spPr>
        <p:txBody>
          <a:bodyPr wrap="square" anchor="t" lIns="45720" rIns="45720">
            <a:spAutoFit/>
          </a:bodyPr>
          <a:lstStyle/>
          <a:p>
            <a:pPr algn="r">
              <a:spcAft>
                <a:spcPts val="600"/>
              </a:spcAft>
            </a:pPr>
            <a:r>
              <a:rPr sz="1000" b="0">
                <a:solidFill>
                  <a:srgbClr val="8A8985"/>
                </a:solidFill>
                <a:latin typeface="Segoe U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365760"/>
          </a:xfrm>
          <a:prstGeom prst="rect">
            <a:avLst/>
          </a:prstGeom>
          <a:noFill/>
        </p:spPr>
        <p:txBody>
          <a:bodyPr wrap="square" anchor="t" lIns="45720" rIns="45720">
            <a:spAutoFit/>
          </a:bodyPr>
          <a:lstStyle/>
          <a:p>
            <a:pPr algn="l">
              <a:spcAft>
                <a:spcPts val="600"/>
              </a:spcAft>
            </a:pPr>
            <a:r>
              <a:rPr sz="1200" b="1">
                <a:solidFill>
                  <a:srgbClr val="2A78D6"/>
                </a:solidFill>
                <a:latin typeface="Segoe UI"/>
              </a:rPr>
              <a:t>RAY TRACING</a:t>
            </a:r>
          </a:p>
        </p:txBody>
      </p:sp>
      <p:sp>
        <p:nvSpPr>
          <p:cNvPr id="4" name="TextBox 3"/>
          <p:cNvSpPr txBox="1"/>
          <p:nvPr/>
        </p:nvSpPr>
        <p:spPr>
          <a:xfrm>
            <a:off x="548640" y="566928"/>
            <a:ext cx="10972800" cy="822960"/>
          </a:xfrm>
          <a:prstGeom prst="rect">
            <a:avLst/>
          </a:prstGeom>
          <a:noFill/>
        </p:spPr>
        <p:txBody>
          <a:bodyPr wrap="square" anchor="t" lIns="45720" rIns="45720">
            <a:spAutoFit/>
          </a:bodyPr>
          <a:lstStyle/>
          <a:p>
            <a:pPr algn="l">
              <a:spcAft>
                <a:spcPts val="600"/>
              </a:spcAft>
            </a:pPr>
            <a:r>
              <a:rPr sz="3000" b="1">
                <a:solidFill>
                  <a:srgbClr val="12243D"/>
                </a:solidFill>
                <a:latin typeface="Segoe UI"/>
              </a:rPr>
              <a:t>The physics: Snell's law &amp; total internal reflection</a:t>
            </a:r>
          </a:p>
        </p:txBody>
      </p:sp>
      <p:sp>
        <p:nvSpPr>
          <p:cNvPr id="5" name="Rounded Rectangle 4"/>
          <p:cNvSpPr/>
          <p:nvPr/>
        </p:nvSpPr>
        <p:spPr>
          <a:xfrm>
            <a:off x="548640" y="1645920"/>
            <a:ext cx="5486400" cy="1783080"/>
          </a:xfrm>
          <a:prstGeom prst="roundRect">
            <a:avLst>
              <a:gd name="adj" fmla="val 12000"/>
            </a:avLst>
          </a:prstGeom>
          <a:solidFill>
            <a:srgbClr val="F3F2E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2243D"/>
                </a:solidFill>
                <a:latin typeface="Segoe UI"/>
              </a:rPr>
              <a:t/>
            </a:r>
          </a:p>
        </p:txBody>
      </p:sp>
      <p:sp>
        <p:nvSpPr>
          <p:cNvPr id="6" name="TextBox 5"/>
          <p:cNvSpPr txBox="1"/>
          <p:nvPr/>
        </p:nvSpPr>
        <p:spPr>
          <a:xfrm>
            <a:off x="777240" y="1783080"/>
            <a:ext cx="5120640" cy="2011680"/>
          </a:xfrm>
          <a:prstGeom prst="rect">
            <a:avLst/>
          </a:prstGeom>
          <a:noFill/>
        </p:spPr>
        <p:txBody>
          <a:bodyPr wrap="square" anchor="t" lIns="45720" rIns="45720">
            <a:spAutoFit/>
          </a:bodyPr>
          <a:lstStyle/>
          <a:p>
            <a:pPr algn="l">
              <a:spcAft>
                <a:spcPts val="600"/>
              </a:spcAft>
            </a:pPr>
            <a:r>
              <a:rPr sz="1700" b="0">
                <a:solidFill>
                  <a:srgbClr val="0B0B0B"/>
                </a:solidFill>
                <a:latin typeface="Cambria Math"/>
              </a:rPr>
              <a:t>r = n₁ / n₂     c₁ = −N·I     k = 1 − r²(1 − c₁²)</a:t>
            </a:r>
          </a:p>
          <a:p>
            <a:pPr algn="l">
              <a:spcAft>
                <a:spcPts val="600"/>
              </a:spcAft>
            </a:pPr>
            <a:r>
              <a:rPr sz="1700" b="0">
                <a:solidFill>
                  <a:srgbClr val="12243D"/>
                </a:solidFill>
                <a:latin typeface="Cambria Math"/>
              </a:rPr>
              <a:t>k ≥ 0  → refract:  R = r·I + (r·c₁ − √k)·N</a:t>
            </a:r>
          </a:p>
          <a:p>
            <a:pPr algn="l">
              <a:spcAft>
                <a:spcPts val="600"/>
              </a:spcAft>
            </a:pPr>
            <a:r>
              <a:rPr sz="1700" b="0">
                <a:solidFill>
                  <a:srgbClr val="C22F2E"/>
                </a:solidFill>
                <a:latin typeface="Cambria Math"/>
              </a:rPr>
              <a:t>k &lt; 0  → total internal reflection:  R = I + 2c₁·N</a:t>
            </a:r>
          </a:p>
          <a:p>
            <a:pPr algn="l">
              <a:spcAft>
                <a:spcPts val="600"/>
              </a:spcAft>
            </a:pPr>
            <a:r>
              <a:rPr sz="1300" b="0">
                <a:solidFill>
                  <a:srgbClr val="52514E"/>
                </a:solidFill>
                <a:latin typeface="Segoe UI"/>
              </a:rPr>
              <a:t>No sin/cos/arcsin needed, only an integer square root</a:t>
            </a:r>
          </a:p>
        </p:txBody>
      </p:sp>
      <p:graphicFrame>
        <p:nvGraphicFramePr>
          <p:cNvPr id="7" name="Table 6"/>
          <p:cNvGraphicFramePr>
            <a:graphicFrameLocks noGrp="1"/>
          </p:cNvGraphicFramePr>
          <p:nvPr/>
        </p:nvGraphicFramePr>
        <p:xfrm>
          <a:off x="6400800" y="1645920"/>
          <a:ext cx="5212080" cy="1828800"/>
        </p:xfrm>
        <a:graphic>
          <a:graphicData uri="http://schemas.openxmlformats.org/drawingml/2006/table">
            <a:tbl>
              <a:tblPr firstRow="1" bandRow="1">
                <a:tableStyleId>{5C22544A-7EE6-4342-B048-85BDC9FD1C3A}</a:tableStyleId>
              </a:tblPr>
              <a:tblGrid>
                <a:gridCol w="1554480"/>
                <a:gridCol w="1097280"/>
                <a:gridCol w="1005840"/>
                <a:gridCol w="1554480"/>
              </a:tblGrid>
              <a:tr h="457200">
                <a:tc>
                  <a:txBody>
                    <a:bodyPr wrap="square"/>
                    <a:lstStyle/>
                    <a:p>
                      <a:r>
                        <a:rPr sz="1300" b="1">
                          <a:solidFill>
                            <a:srgbClr val="FFFFFF"/>
                          </a:solidFill>
                          <a:latin typeface="Segoe UI"/>
                        </a:rPr>
                        <a:t>Worked example</a:t>
                      </a:r>
                    </a:p>
                  </a:txBody>
                  <a:tcPr marL="73152" marR="73152" anchor="ctr">
                    <a:solidFill>
                      <a:srgbClr val="12243D"/>
                    </a:solidFill>
                  </a:tcPr>
                </a:tc>
                <a:tc>
                  <a:txBody>
                    <a:bodyPr wrap="square"/>
                    <a:lstStyle/>
                    <a:p>
                      <a:r>
                        <a:rPr sz="1300" b="1">
                          <a:solidFill>
                            <a:srgbClr val="FFFFFF"/>
                          </a:solidFill>
                          <a:latin typeface="Segoe UI"/>
                        </a:rPr>
                        <a:t>n₁ → n₂</a:t>
                      </a:r>
                    </a:p>
                  </a:txBody>
                  <a:tcPr marL="73152" marR="73152" anchor="ctr">
                    <a:solidFill>
                      <a:srgbClr val="12243D"/>
                    </a:solidFill>
                  </a:tcPr>
                </a:tc>
                <a:tc>
                  <a:txBody>
                    <a:bodyPr wrap="square"/>
                    <a:lstStyle/>
                    <a:p>
                      <a:r>
                        <a:rPr sz="1300" b="1">
                          <a:solidFill>
                            <a:srgbClr val="FFFFFF"/>
                          </a:solidFill>
                          <a:latin typeface="Segoe UI"/>
                        </a:rPr>
                        <a:t>Angle in</a:t>
                      </a:r>
                    </a:p>
                  </a:txBody>
                  <a:tcPr marL="73152" marR="73152" anchor="ctr">
                    <a:solidFill>
                      <a:srgbClr val="12243D"/>
                    </a:solidFill>
                  </a:tcPr>
                </a:tc>
                <a:tc>
                  <a:txBody>
                    <a:bodyPr wrap="square"/>
                    <a:lstStyle/>
                    <a:p>
                      <a:r>
                        <a:rPr sz="1300" b="1">
                          <a:solidFill>
                            <a:srgbClr val="FFFFFF"/>
                          </a:solidFill>
                          <a:latin typeface="Segoe UI"/>
                        </a:rPr>
                        <a:t>Result</a:t>
                      </a:r>
                    </a:p>
                  </a:txBody>
                  <a:tcPr marL="73152" marR="73152" anchor="ctr">
                    <a:solidFill>
                      <a:srgbClr val="12243D"/>
                    </a:solidFill>
                  </a:tcPr>
                </a:tc>
              </a:tr>
              <a:tr h="457200">
                <a:tc>
                  <a:txBody>
                    <a:bodyPr wrap="square"/>
                    <a:lstStyle/>
                    <a:p>
                      <a:r>
                        <a:rPr sz="1300" b="1">
                          <a:solidFill>
                            <a:srgbClr val="0B0B0B"/>
                          </a:solidFill>
                          <a:latin typeface="Segoe UI"/>
                        </a:rPr>
                        <a:t>Glass → air</a:t>
                      </a:r>
                    </a:p>
                  </a:txBody>
                  <a:tcPr marL="73152" marR="73152" anchor="ctr">
                    <a:solidFill>
                      <a:srgbClr val="FCFCFB"/>
                    </a:solidFill>
                  </a:tcPr>
                </a:tc>
                <a:tc>
                  <a:txBody>
                    <a:bodyPr wrap="square"/>
                    <a:lstStyle/>
                    <a:p>
                      <a:r>
                        <a:rPr sz="1300" b="0">
                          <a:solidFill>
                            <a:srgbClr val="0B0B0B"/>
                          </a:solidFill>
                          <a:latin typeface="Segoe UI"/>
                        </a:rPr>
                        <a:t>1.5 → 1.0</a:t>
                      </a:r>
                    </a:p>
                  </a:txBody>
                  <a:tcPr marL="73152" marR="73152" anchor="ctr">
                    <a:solidFill>
                      <a:srgbClr val="FCFCFB"/>
                    </a:solidFill>
                  </a:tcPr>
                </a:tc>
                <a:tc>
                  <a:txBody>
                    <a:bodyPr wrap="square"/>
                    <a:lstStyle/>
                    <a:p>
                      <a:r>
                        <a:rPr sz="1300" b="0">
                          <a:solidFill>
                            <a:srgbClr val="0B0B0B"/>
                          </a:solidFill>
                          <a:latin typeface="Segoe UI"/>
                        </a:rPr>
                        <a:t>30°</a:t>
                      </a:r>
                    </a:p>
                  </a:txBody>
                  <a:tcPr marL="73152" marR="73152" anchor="ctr">
                    <a:solidFill>
                      <a:srgbClr val="FCFCFB"/>
                    </a:solidFill>
                  </a:tcPr>
                </a:tc>
                <a:tc>
                  <a:txBody>
                    <a:bodyPr wrap="square"/>
                    <a:lstStyle/>
                    <a:p>
                      <a:r>
                        <a:rPr sz="1300" b="0">
                          <a:solidFill>
                            <a:srgbClr val="0B0B0B"/>
                          </a:solidFill>
                          <a:latin typeface="Segoe UI"/>
                        </a:rPr>
                        <a:t>refracts to 48.6°</a:t>
                      </a:r>
                    </a:p>
                  </a:txBody>
                  <a:tcPr marL="73152" marR="73152" anchor="ctr">
                    <a:solidFill>
                      <a:srgbClr val="FCFCFB"/>
                    </a:solidFill>
                  </a:tcPr>
                </a:tc>
              </a:tr>
              <a:tr h="457200">
                <a:tc>
                  <a:txBody>
                    <a:bodyPr wrap="square"/>
                    <a:lstStyle/>
                    <a:p>
                      <a:r>
                        <a:rPr sz="1300" b="1">
                          <a:solidFill>
                            <a:srgbClr val="0B0B0B"/>
                          </a:solidFill>
                          <a:latin typeface="Segoe UI"/>
                        </a:rPr>
                        <a:t>Air → glass</a:t>
                      </a:r>
                    </a:p>
                  </a:txBody>
                  <a:tcPr marL="73152" marR="73152" anchor="ctr">
                    <a:solidFill>
                      <a:srgbClr val="F3F2EF"/>
                    </a:solidFill>
                  </a:tcPr>
                </a:tc>
                <a:tc>
                  <a:txBody>
                    <a:bodyPr wrap="square"/>
                    <a:lstStyle/>
                    <a:p>
                      <a:r>
                        <a:rPr sz="1300" b="0">
                          <a:solidFill>
                            <a:srgbClr val="0B0B0B"/>
                          </a:solidFill>
                          <a:latin typeface="Segoe UI"/>
                        </a:rPr>
                        <a:t>1.0 → 1.5</a:t>
                      </a:r>
                    </a:p>
                  </a:txBody>
                  <a:tcPr marL="73152" marR="73152" anchor="ctr">
                    <a:solidFill>
                      <a:srgbClr val="F3F2EF"/>
                    </a:solidFill>
                  </a:tcPr>
                </a:tc>
                <a:tc>
                  <a:txBody>
                    <a:bodyPr wrap="square"/>
                    <a:lstStyle/>
                    <a:p>
                      <a:r>
                        <a:rPr sz="1300" b="0">
                          <a:solidFill>
                            <a:srgbClr val="0B0B0B"/>
                          </a:solidFill>
                          <a:latin typeface="Segoe UI"/>
                        </a:rPr>
                        <a:t>30°</a:t>
                      </a:r>
                    </a:p>
                  </a:txBody>
                  <a:tcPr marL="73152" marR="73152" anchor="ctr">
                    <a:solidFill>
                      <a:srgbClr val="F3F2EF"/>
                    </a:solidFill>
                  </a:tcPr>
                </a:tc>
                <a:tc>
                  <a:txBody>
                    <a:bodyPr wrap="square"/>
                    <a:lstStyle/>
                    <a:p>
                      <a:r>
                        <a:rPr sz="1300" b="0">
                          <a:solidFill>
                            <a:srgbClr val="0B0B0B"/>
                          </a:solidFill>
                          <a:latin typeface="Segoe UI"/>
                        </a:rPr>
                        <a:t>refracts to 19.5°</a:t>
                      </a:r>
                    </a:p>
                  </a:txBody>
                  <a:tcPr marL="73152" marR="73152" anchor="ctr">
                    <a:solidFill>
                      <a:srgbClr val="F3F2EF"/>
                    </a:solidFill>
                  </a:tcPr>
                </a:tc>
              </a:tr>
              <a:tr h="457200">
                <a:tc>
                  <a:txBody>
                    <a:bodyPr wrap="square"/>
                    <a:lstStyle/>
                    <a:p>
                      <a:r>
                        <a:rPr sz="1300" b="1">
                          <a:solidFill>
                            <a:srgbClr val="0B0B0B"/>
                          </a:solidFill>
                          <a:latin typeface="Segoe UI"/>
                        </a:rPr>
                        <a:t>Glass → air</a:t>
                      </a:r>
                    </a:p>
                  </a:txBody>
                  <a:tcPr marL="73152" marR="73152" anchor="ctr">
                    <a:solidFill>
                      <a:srgbClr val="FCFCFB"/>
                    </a:solidFill>
                  </a:tcPr>
                </a:tc>
                <a:tc>
                  <a:txBody>
                    <a:bodyPr wrap="square"/>
                    <a:lstStyle/>
                    <a:p>
                      <a:r>
                        <a:rPr sz="1300" b="0">
                          <a:solidFill>
                            <a:srgbClr val="0B0B0B"/>
                          </a:solidFill>
                          <a:latin typeface="Segoe UI"/>
                        </a:rPr>
                        <a:t>1.5 → 1.0</a:t>
                      </a:r>
                    </a:p>
                  </a:txBody>
                  <a:tcPr marL="73152" marR="73152" anchor="ctr">
                    <a:solidFill>
                      <a:srgbClr val="FCFCFB"/>
                    </a:solidFill>
                  </a:tcPr>
                </a:tc>
                <a:tc>
                  <a:txBody>
                    <a:bodyPr wrap="square"/>
                    <a:lstStyle/>
                    <a:p>
                      <a:r>
                        <a:rPr sz="1300" b="0">
                          <a:solidFill>
                            <a:srgbClr val="0B0B0B"/>
                          </a:solidFill>
                          <a:latin typeface="Segoe UI"/>
                        </a:rPr>
                        <a:t>50°</a:t>
                      </a:r>
                    </a:p>
                  </a:txBody>
                  <a:tcPr marL="73152" marR="73152" anchor="ctr">
                    <a:solidFill>
                      <a:srgbClr val="FCFCFB"/>
                    </a:solidFill>
                  </a:tcPr>
                </a:tc>
                <a:tc>
                  <a:txBody>
                    <a:bodyPr wrap="square"/>
                    <a:lstStyle/>
                    <a:p>
                      <a:r>
                        <a:rPr sz="1300" b="0">
                          <a:solidFill>
                            <a:srgbClr val="0B0B0B"/>
                          </a:solidFill>
                          <a:latin typeface="Segoe UI"/>
                        </a:rPr>
                        <a:t>TIR (θc = 41.8°)</a:t>
                      </a:r>
                    </a:p>
                  </a:txBody>
                  <a:tcPr marL="73152" marR="73152" anchor="ctr">
                    <a:solidFill>
                      <a:srgbClr val="FCFCFB"/>
                    </a:solidFill>
                  </a:tcPr>
                </a:tc>
              </a:tr>
            </a:tbl>
          </a:graphicData>
        </a:graphic>
      </p:graphicFrame>
      <p:sp>
        <p:nvSpPr>
          <p:cNvPr id="8" name="TextBox 7"/>
          <p:cNvSpPr txBox="1"/>
          <p:nvPr/>
        </p:nvSpPr>
        <p:spPr>
          <a:xfrm>
            <a:off x="548640" y="3840480"/>
            <a:ext cx="10972800" cy="2011680"/>
          </a:xfrm>
          <a:prstGeom prst="rect">
            <a:avLst/>
          </a:prstGeom>
          <a:noFill/>
        </p:spPr>
        <p:txBody>
          <a:bodyPr wrap="square">
            <a:spAutoFit/>
          </a:bodyPr>
          <a:lstStyle/>
          <a:p>
            <a:pPr>
              <a:spcAft>
                <a:spcPts val="800"/>
              </a:spcAft>
            </a:pPr>
            <a:r>
              <a:rPr sz="1600">
                <a:solidFill>
                  <a:srgbClr val="2A78D6"/>
                </a:solidFill>
                <a:latin typeface="Segoe UI"/>
              </a:rPr>
              <a:t>•  </a:t>
            </a:r>
            <a:r>
              <a:rPr b="1" sz="1600">
                <a:solidFill>
                  <a:srgbClr val="0B0B0B"/>
                </a:solidFill>
                <a:latin typeface="Segoe UI"/>
              </a:rPr>
              <a:t>Unit tests check these exact numbers</a:t>
            </a:r>
            <a:r>
              <a:rPr sz="1600">
                <a:solidFill>
                  <a:srgbClr val="0B0B0B"/>
                </a:solidFill>
                <a:latin typeface="Segoe UI"/>
              </a:rPr>
              <a:t> in Q16.16 (to within ±0.002)</a:t>
            </a:r>
          </a:p>
          <a:p>
            <a:pPr>
              <a:spcAft>
                <a:spcPts val="800"/>
              </a:spcAft>
            </a:pPr>
            <a:r>
              <a:rPr sz="1600">
                <a:solidFill>
                  <a:srgbClr val="2A78D6"/>
                </a:solidFill>
                <a:latin typeface="Segoe UI"/>
              </a:rPr>
              <a:t>•  </a:t>
            </a:r>
            <a:r>
              <a:rPr b="1" sz="1600">
                <a:solidFill>
                  <a:srgbClr val="0B0B0B"/>
                </a:solidFill>
                <a:latin typeface="Segoe UI"/>
              </a:rPr>
              <a:t>Branchless:</a:t>
            </a:r>
            <a:r>
              <a:rPr sz="1600">
                <a:solidFill>
                  <a:srgbClr val="0B0B0B"/>
                </a:solidFill>
                <a:latin typeface="Segoe UI"/>
              </a:rPr>
              <a:t> both outcomes are computed and one is selected with a bit mask, so there is no secret-dependent if</a:t>
            </a:r>
          </a:p>
          <a:p>
            <a:pPr>
              <a:spcAft>
                <a:spcPts val="800"/>
              </a:spcAft>
            </a:pPr>
            <a:r>
              <a:rPr sz="1600">
                <a:solidFill>
                  <a:srgbClr val="2A78D6"/>
                </a:solidFill>
                <a:latin typeface="Segoe UI"/>
              </a:rPr>
              <a:t>•  </a:t>
            </a:r>
            <a:r>
              <a:rPr b="1" sz="1600">
                <a:solidFill>
                  <a:srgbClr val="0B0B0B"/>
                </a:solidFill>
                <a:latin typeface="Segoe UI"/>
              </a:rPr>
              <a:t>Fixed 48 events per ray:</a:t>
            </a:r>
            <a:r>
              <a:rPr sz="1600">
                <a:solidFill>
                  <a:srgbClr val="0B0B0B"/>
                </a:solidFill>
                <a:latin typeface="Segoe UI"/>
              </a:rPr>
              <a:t> running time doesn't depend on the data</a:t>
            </a:r>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a:solidFill>
                  <a:srgbClr val="8A8985"/>
                </a:solidFill>
                <a:latin typeface="Segoe UI"/>
              </a:rPr>
              <a:t>3D Chaotic Refractive Cipher  ·  Malladi Nagarjuna</a:t>
            </a:r>
          </a:p>
        </p:txBody>
      </p:sp>
      <p:sp>
        <p:nvSpPr>
          <p:cNvPr id="10" name="TextBox 9"/>
          <p:cNvSpPr txBox="1"/>
          <p:nvPr/>
        </p:nvSpPr>
        <p:spPr>
          <a:xfrm>
            <a:off x="10911535" y="6446520"/>
            <a:ext cx="822960" cy="274320"/>
          </a:xfrm>
          <a:prstGeom prst="rect">
            <a:avLst/>
          </a:prstGeom>
          <a:noFill/>
        </p:spPr>
        <p:txBody>
          <a:bodyPr wrap="square" anchor="t" lIns="45720" rIns="45720">
            <a:spAutoFit/>
          </a:bodyPr>
          <a:lstStyle/>
          <a:p>
            <a:pPr algn="r">
              <a:spcAft>
                <a:spcPts val="600"/>
              </a:spcAft>
            </a:pPr>
            <a:r>
              <a:rPr sz="1000" b="0">
                <a:solidFill>
                  <a:srgbClr val="8A8985"/>
                </a:solidFill>
                <a:latin typeface="Segoe U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365760"/>
          </a:xfrm>
          <a:prstGeom prst="rect">
            <a:avLst/>
          </a:prstGeom>
          <a:noFill/>
        </p:spPr>
        <p:txBody>
          <a:bodyPr wrap="square" anchor="t" lIns="45720" rIns="45720">
            <a:spAutoFit/>
          </a:bodyPr>
          <a:lstStyle/>
          <a:p>
            <a:pPr algn="l">
              <a:spcAft>
                <a:spcPts val="600"/>
              </a:spcAft>
            </a:pPr>
            <a:r>
              <a:rPr sz="1200" b="1">
                <a:solidFill>
                  <a:srgbClr val="2A78D6"/>
                </a:solidFill>
                <a:latin typeface="Segoe UI"/>
              </a:rPr>
              <a:t>ROUND FUNCTION</a:t>
            </a:r>
          </a:p>
        </p:txBody>
      </p:sp>
      <p:sp>
        <p:nvSpPr>
          <p:cNvPr id="4" name="TextBox 3"/>
          <p:cNvSpPr txBox="1"/>
          <p:nvPr/>
        </p:nvSpPr>
        <p:spPr>
          <a:xfrm>
            <a:off x="548640" y="566928"/>
            <a:ext cx="10972800" cy="822960"/>
          </a:xfrm>
          <a:prstGeom prst="rect">
            <a:avLst/>
          </a:prstGeom>
          <a:noFill/>
        </p:spPr>
        <p:txBody>
          <a:bodyPr wrap="square" anchor="t" lIns="45720" rIns="45720">
            <a:spAutoFit/>
          </a:bodyPr>
          <a:lstStyle/>
          <a:p>
            <a:pPr algn="l">
              <a:spcAft>
                <a:spcPts val="600"/>
              </a:spcAft>
            </a:pPr>
            <a:r>
              <a:rPr sz="3000" b="1">
                <a:solidFill>
                  <a:srgbClr val="12243D"/>
                </a:solidFill>
                <a:latin typeface="Segoe UI"/>
              </a:rPr>
              <a:t>The ray tracer is the cipher's round function F</a:t>
            </a:r>
          </a:p>
        </p:txBody>
      </p:sp>
      <p:pic>
        <p:nvPicPr>
          <p:cNvPr id="5" name="Picture 4" descr="gui-ray-simulation.png"/>
          <p:cNvPicPr>
            <a:picLocks noChangeAspect="1"/>
          </p:cNvPicPr>
          <p:nvPr/>
        </p:nvPicPr>
        <p:blipFill>
          <a:blip r:embed="rId3"/>
          <a:stretch>
            <a:fillRect/>
          </a:stretch>
        </p:blipFill>
        <p:spPr>
          <a:xfrm>
            <a:off x="4754880" y="1463040"/>
            <a:ext cx="6949440" cy="4422371"/>
          </a:xfrm>
          <a:prstGeom prst="rect">
            <a:avLst/>
          </a:prstGeom>
          <a:ln w="12700">
            <a:solidFill>
              <a:srgbClr val="E2E1DD"/>
            </a:solidFill>
          </a:ln>
        </p:spPr>
      </p:pic>
      <p:sp>
        <p:nvSpPr>
          <p:cNvPr id="6" name="TextBox 5"/>
          <p:cNvSpPr txBox="1"/>
          <p:nvPr/>
        </p:nvSpPr>
        <p:spPr>
          <a:xfrm>
            <a:off x="548640" y="1600200"/>
            <a:ext cx="4023360" cy="4572000"/>
          </a:xfrm>
          <a:prstGeom prst="rect">
            <a:avLst/>
          </a:prstGeom>
          <a:noFill/>
        </p:spPr>
        <p:txBody>
          <a:bodyPr wrap="square">
            <a:spAutoFit/>
          </a:bodyPr>
          <a:lstStyle/>
          <a:p>
            <a:pPr>
              <a:spcAft>
                <a:spcPts val="800"/>
              </a:spcAft>
            </a:pPr>
            <a:r>
              <a:rPr sz="1600">
                <a:solidFill>
                  <a:srgbClr val="2A78D6"/>
                </a:solidFill>
                <a:latin typeface="Segoe UI"/>
              </a:rPr>
              <a:t>•  </a:t>
            </a:r>
            <a:r>
              <a:rPr b="1" sz="1600">
                <a:solidFill>
                  <a:srgbClr val="0B0B0B"/>
                </a:solidFill>
                <a:latin typeface="Segoe UI"/>
              </a:rPr>
              <a:t>Input (64 bits):</a:t>
            </a:r>
            <a:r>
              <a:rPr sz="1600">
                <a:solidFill>
                  <a:srgbClr val="0B0B0B"/>
                </a:solidFill>
                <a:latin typeface="Segoe UI"/>
              </a:rPr>
              <a:t/>
            </a:r>
          </a:p>
          <a:p>
            <a:pPr lvl="1">
              <a:spcAft>
                <a:spcPts val="400"/>
              </a:spcAft>
            </a:pPr>
            <a:r>
              <a:rPr sz="1300">
                <a:solidFill>
                  <a:srgbClr val="2A78D6"/>
                </a:solidFill>
                <a:latin typeface="Segoe UI"/>
              </a:rPr>
              <a:t>–  </a:t>
            </a:r>
            <a:r>
              <a:rPr sz="1300">
                <a:solidFill>
                  <a:srgbClr val="52514E"/>
                </a:solidFill>
                <a:latin typeface="Segoe UI"/>
              </a:rPr>
              <a:t>20 + 20 bits → entry x, y</a:t>
            </a:r>
          </a:p>
          <a:p>
            <a:pPr lvl="1">
              <a:spcAft>
                <a:spcPts val="400"/>
              </a:spcAft>
            </a:pPr>
            <a:r>
              <a:rPr sz="1300">
                <a:solidFill>
                  <a:srgbClr val="2A78D6"/>
                </a:solidFill>
                <a:latin typeface="Segoe UI"/>
              </a:rPr>
              <a:t>–  </a:t>
            </a:r>
            <a:r>
              <a:rPr sz="1300">
                <a:solidFill>
                  <a:srgbClr val="52514E"/>
                </a:solidFill>
                <a:latin typeface="Segoe UI"/>
              </a:rPr>
              <a:t>12 + 12 bits → tilt angle</a:t>
            </a:r>
          </a:p>
          <a:p>
            <a:pPr>
              <a:spcAft>
                <a:spcPts val="800"/>
              </a:spcAft>
            </a:pPr>
            <a:r>
              <a:rPr sz="1600">
                <a:solidFill>
                  <a:srgbClr val="2A78D6"/>
                </a:solidFill>
                <a:latin typeface="Segoe UI"/>
              </a:rPr>
              <a:t>•  </a:t>
            </a:r>
            <a:r>
              <a:rPr b="1" sz="1600">
                <a:solidFill>
                  <a:srgbClr val="0B0B0B"/>
                </a:solidFill>
                <a:latin typeface="Segoe UI"/>
              </a:rPr>
              <a:t>48 events</a:t>
            </a:r>
            <a:r>
              <a:rPr sz="1600">
                <a:solidFill>
                  <a:srgbClr val="0B0B0B"/>
                </a:solidFill>
                <a:latin typeface="Segoe UI"/>
              </a:rPr>
              <a:t> via 3D voxel walk (DDA)</a:t>
            </a:r>
          </a:p>
          <a:p>
            <a:pPr>
              <a:spcAft>
                <a:spcPts val="800"/>
              </a:spcAft>
            </a:pPr>
            <a:r>
              <a:rPr sz="1600">
                <a:solidFill>
                  <a:srgbClr val="2A78D6"/>
                </a:solidFill>
                <a:latin typeface="Segoe UI"/>
              </a:rPr>
              <a:t>•  </a:t>
            </a:r>
            <a:r>
              <a:rPr b="1" sz="1600">
                <a:solidFill>
                  <a:srgbClr val="0B0B0B"/>
                </a:solidFill>
                <a:latin typeface="Segoe UI"/>
              </a:rPr>
              <a:t>Secret S-box</a:t>
            </a:r>
            <a:r>
              <a:rPr sz="1600">
                <a:solidFill>
                  <a:srgbClr val="0B0B0B"/>
                </a:solidFill>
                <a:latin typeface="Segoe UI"/>
              </a:rPr>
              <a:t> mixed in at every step</a:t>
            </a:r>
          </a:p>
          <a:p>
            <a:pPr>
              <a:spcAft>
                <a:spcPts val="800"/>
              </a:spcAft>
            </a:pPr>
            <a:r>
              <a:rPr sz="1600">
                <a:solidFill>
                  <a:srgbClr val="2A78D6"/>
                </a:solidFill>
                <a:latin typeface="Segoe UI"/>
              </a:rPr>
              <a:t>•  </a:t>
            </a:r>
            <a:r>
              <a:rPr b="1" sz="1600">
                <a:solidFill>
                  <a:srgbClr val="0B0B0B"/>
                </a:solidFill>
                <a:latin typeface="Segoe UI"/>
              </a:rPr>
              <a:t>Output:</a:t>
            </a:r>
            <a:r>
              <a:rPr sz="1600">
                <a:solidFill>
                  <a:srgbClr val="0B0B0B"/>
                </a:solidFill>
                <a:latin typeface="Segoe UI"/>
              </a:rPr>
              <a:t> 64-bit digest of position, direction and path history</a:t>
            </a:r>
          </a:p>
          <a:p>
            <a:pPr>
              <a:spcAft>
                <a:spcPts val="800"/>
              </a:spcAft>
            </a:pPr>
            <a:r>
              <a:rPr sz="1600">
                <a:solidFill>
                  <a:srgbClr val="2A78D6"/>
                </a:solidFill>
                <a:latin typeface="Segoe UI"/>
              </a:rPr>
              <a:t>•  </a:t>
            </a:r>
            <a:r>
              <a:rPr b="1" sz="1600">
                <a:solidFill>
                  <a:srgbClr val="0B0B0B"/>
                </a:solidFill>
                <a:latin typeface="Segoe UI"/>
              </a:rPr>
              <a:t>1 input bit flipped → ~50%</a:t>
            </a:r>
            <a:r>
              <a:rPr sz="1600">
                <a:solidFill>
                  <a:srgbClr val="0B0B0B"/>
                </a:solidFill>
                <a:latin typeface="Segoe UI"/>
              </a:rPr>
              <a:t> of the 64 output bits change</a:t>
            </a:r>
          </a:p>
        </p:txBody>
      </p:sp>
      <p:sp>
        <p:nvSpPr>
          <p:cNvPr id="7" name="TextBox 6"/>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a:solidFill>
                  <a:srgbClr val="8A8985"/>
                </a:solidFill>
                <a:latin typeface="Segoe UI"/>
              </a:rPr>
              <a:t>3D Chaotic Refractive Cipher  ·  Malladi Nagarjuna</a:t>
            </a:r>
          </a:p>
        </p:txBody>
      </p:sp>
      <p:sp>
        <p:nvSpPr>
          <p:cNvPr id="8" name="TextBox 7"/>
          <p:cNvSpPr txBox="1"/>
          <p:nvPr/>
        </p:nvSpPr>
        <p:spPr>
          <a:xfrm>
            <a:off x="10911535" y="6446520"/>
            <a:ext cx="822960" cy="274320"/>
          </a:xfrm>
          <a:prstGeom prst="rect">
            <a:avLst/>
          </a:prstGeom>
          <a:noFill/>
        </p:spPr>
        <p:txBody>
          <a:bodyPr wrap="square" anchor="t" lIns="45720" rIns="45720">
            <a:spAutoFit/>
          </a:bodyPr>
          <a:lstStyle/>
          <a:p>
            <a:pPr algn="r">
              <a:spcAft>
                <a:spcPts val="600"/>
              </a:spcAft>
            </a:pPr>
            <a:r>
              <a:rPr sz="1000" b="0">
                <a:solidFill>
                  <a:srgbClr val="8A8985"/>
                </a:solidFill>
                <a:latin typeface="Segoe U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365760"/>
          </a:xfrm>
          <a:prstGeom prst="rect">
            <a:avLst/>
          </a:prstGeom>
          <a:noFill/>
        </p:spPr>
        <p:txBody>
          <a:bodyPr wrap="square" anchor="t" lIns="45720" rIns="45720">
            <a:spAutoFit/>
          </a:bodyPr>
          <a:lstStyle/>
          <a:p>
            <a:pPr algn="l">
              <a:spcAft>
                <a:spcPts val="600"/>
              </a:spcAft>
            </a:pPr>
            <a:r>
              <a:rPr sz="1200" b="1">
                <a:solidFill>
                  <a:srgbClr val="2A78D6"/>
                </a:solidFill>
                <a:latin typeface="Segoe UI"/>
              </a:rPr>
              <a:t>BLOCK CIPHER</a:t>
            </a:r>
          </a:p>
        </p:txBody>
      </p:sp>
      <p:sp>
        <p:nvSpPr>
          <p:cNvPr id="4" name="TextBox 3"/>
          <p:cNvSpPr txBox="1"/>
          <p:nvPr/>
        </p:nvSpPr>
        <p:spPr>
          <a:xfrm>
            <a:off x="548640" y="566928"/>
            <a:ext cx="10972800" cy="822960"/>
          </a:xfrm>
          <a:prstGeom prst="rect">
            <a:avLst/>
          </a:prstGeom>
          <a:noFill/>
        </p:spPr>
        <p:txBody>
          <a:bodyPr wrap="square" anchor="t" lIns="45720" rIns="45720">
            <a:spAutoFit/>
          </a:bodyPr>
          <a:lstStyle/>
          <a:p>
            <a:pPr algn="l">
              <a:spcAft>
                <a:spcPts val="600"/>
              </a:spcAft>
            </a:pPr>
            <a:r>
              <a:rPr sz="3000" b="1">
                <a:solidFill>
                  <a:srgbClr val="12243D"/>
                </a:solidFill>
                <a:latin typeface="Segoe UI"/>
              </a:rPr>
              <a:t>Feistel network: why decryption is always exact</a:t>
            </a:r>
          </a:p>
        </p:txBody>
      </p:sp>
      <p:sp>
        <p:nvSpPr>
          <p:cNvPr id="5" name="Rounded Rectangle 4"/>
          <p:cNvSpPr/>
          <p:nvPr/>
        </p:nvSpPr>
        <p:spPr>
          <a:xfrm>
            <a:off x="548640" y="1645920"/>
            <a:ext cx="4754880" cy="1234440"/>
          </a:xfrm>
          <a:prstGeom prst="roundRect">
            <a:avLst>
              <a:gd name="adj" fmla="val 12000"/>
            </a:avLst>
          </a:prstGeom>
          <a:solidFill>
            <a:srgbClr val="F3F2E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2243D"/>
                </a:solidFill>
                <a:latin typeface="Segoe UI"/>
              </a:rPr>
              <a:t/>
            </a:r>
          </a:p>
        </p:txBody>
      </p:sp>
      <p:sp>
        <p:nvSpPr>
          <p:cNvPr id="6" name="TextBox 5"/>
          <p:cNvSpPr txBox="1"/>
          <p:nvPr/>
        </p:nvSpPr>
        <p:spPr>
          <a:xfrm>
            <a:off x="731520" y="1737360"/>
            <a:ext cx="4480560" cy="1097280"/>
          </a:xfrm>
          <a:prstGeom prst="rect">
            <a:avLst/>
          </a:prstGeom>
          <a:noFill/>
        </p:spPr>
        <p:txBody>
          <a:bodyPr wrap="square" anchor="t" lIns="45720" rIns="45720">
            <a:spAutoFit/>
          </a:bodyPr>
          <a:lstStyle/>
          <a:p>
            <a:pPr algn="l">
              <a:spcAft>
                <a:spcPts val="600"/>
              </a:spcAft>
            </a:pPr>
            <a:r>
              <a:rPr sz="1600" b="0">
                <a:solidFill>
                  <a:srgbClr val="0B0B0B"/>
                </a:solidFill>
                <a:latin typeface="Cambria Math"/>
              </a:rPr>
              <a:t>Encrypt:  Lᵢ₊₁ = Rᵢ      Rᵢ₊₁ = Lᵢ ⊕ F(Rᵢ, Kᵢ)</a:t>
            </a:r>
          </a:p>
          <a:p>
            <a:pPr algn="l">
              <a:spcAft>
                <a:spcPts val="600"/>
              </a:spcAft>
            </a:pPr>
            <a:r>
              <a:rPr sz="1600" b="0">
                <a:solidFill>
                  <a:srgbClr val="12243D"/>
                </a:solidFill>
                <a:latin typeface="Cambria Math"/>
              </a:rPr>
              <a:t>Decrypt:  Rᵢ = Lᵢ₊₁      Lᵢ = Rᵢ₊₁ ⊕ F(Lᵢ₊₁, Kᵢ)</a:t>
            </a:r>
          </a:p>
        </p:txBody>
      </p:sp>
      <p:sp>
        <p:nvSpPr>
          <p:cNvPr id="7" name="TextBox 6"/>
          <p:cNvSpPr txBox="1"/>
          <p:nvPr/>
        </p:nvSpPr>
        <p:spPr>
          <a:xfrm>
            <a:off x="548640" y="3108960"/>
            <a:ext cx="4846320" cy="3017520"/>
          </a:xfrm>
          <a:prstGeom prst="rect">
            <a:avLst/>
          </a:prstGeom>
          <a:noFill/>
        </p:spPr>
        <p:txBody>
          <a:bodyPr wrap="square">
            <a:spAutoFit/>
          </a:bodyPr>
          <a:lstStyle/>
          <a:p>
            <a:pPr>
              <a:spcAft>
                <a:spcPts val="800"/>
              </a:spcAft>
            </a:pPr>
            <a:r>
              <a:rPr sz="1600">
                <a:solidFill>
                  <a:srgbClr val="2A78D6"/>
                </a:solidFill>
                <a:latin typeface="Segoe UI"/>
              </a:rPr>
              <a:t>•  </a:t>
            </a:r>
            <a:r>
              <a:rPr b="1" sz="1600">
                <a:solidFill>
                  <a:srgbClr val="0B0B0B"/>
                </a:solidFill>
                <a:latin typeface="Segoe UI"/>
              </a:rPr>
              <a:t>F is only ever run forwards,</a:t>
            </a:r>
            <a:r>
              <a:rPr sz="1600">
                <a:solidFill>
                  <a:srgbClr val="0B0B0B"/>
                </a:solidFill>
                <a:latin typeface="Segoe UI"/>
              </a:rPr>
              <a:t> so it may round, branch, even collide</a:t>
            </a:r>
          </a:p>
          <a:p>
            <a:pPr>
              <a:spcAft>
                <a:spcPts val="800"/>
              </a:spcAft>
            </a:pPr>
            <a:r>
              <a:rPr sz="1600">
                <a:solidFill>
                  <a:srgbClr val="2A78D6"/>
                </a:solidFill>
                <a:latin typeface="Segoe UI"/>
              </a:rPr>
              <a:t>•  </a:t>
            </a:r>
            <a:r>
              <a:rPr b="1" sz="1600">
                <a:solidFill>
                  <a:srgbClr val="0B0B0B"/>
                </a:solidFill>
                <a:latin typeface="Segoe UI"/>
              </a:rPr>
              <a:t>Backward ray tracing would drift</a:t>
            </a:r>
            <a:r>
              <a:rPr sz="1600">
                <a:solidFill>
                  <a:srgbClr val="0B0B0B"/>
                </a:solidFill>
                <a:latin typeface="Segoe UI"/>
              </a:rPr>
              <a:t> due to fixed-point rounding</a:t>
            </a:r>
          </a:p>
          <a:p>
            <a:pPr>
              <a:spcAft>
                <a:spcPts val="800"/>
              </a:spcAft>
            </a:pPr>
            <a:r>
              <a:rPr sz="1600">
                <a:solidFill>
                  <a:srgbClr val="2A78D6"/>
                </a:solidFill>
                <a:latin typeface="Segoe UI"/>
              </a:rPr>
              <a:t>•  </a:t>
            </a:r>
            <a:r>
              <a:rPr b="1" sz="1600">
                <a:solidFill>
                  <a:srgbClr val="0B0B0B"/>
                </a:solidFill>
                <a:latin typeface="Segoe UI"/>
              </a:rPr>
              <a:t>16 rounds</a:t>
            </a:r>
            <a:r>
              <a:rPr sz="1600">
                <a:solidFill>
                  <a:srgbClr val="0B0B0B"/>
                </a:solidFill>
                <a:latin typeface="Segoe UI"/>
              </a:rPr>
              <a:t> on 128-bit blocks (DES-style structure; Luby–Rackoff)</a:t>
            </a:r>
          </a:p>
          <a:p>
            <a:pPr>
              <a:spcAft>
                <a:spcPts val="800"/>
              </a:spcAft>
            </a:pPr>
            <a:r>
              <a:rPr sz="1600">
                <a:solidFill>
                  <a:srgbClr val="2A78D6"/>
                </a:solidFill>
                <a:latin typeface="Segoe UI"/>
              </a:rPr>
              <a:t>•  </a:t>
            </a:r>
            <a:r>
              <a:rPr b="1" sz="1600">
                <a:solidFill>
                  <a:srgbClr val="0B0B0B"/>
                </a:solidFill>
                <a:latin typeface="Segoe UI"/>
              </a:rPr>
              <a:t>Tested:</a:t>
            </a:r>
            <a:r>
              <a:rPr sz="1600">
                <a:solidFill>
                  <a:srgbClr val="0B0B0B"/>
                </a:solidFill>
                <a:latin typeface="Segoe UI"/>
              </a:rPr>
              <a:t> 200 random blocks plus all reduced-round versions decrypt exactly</a:t>
            </a:r>
          </a:p>
        </p:txBody>
      </p:sp>
      <p:pic>
        <p:nvPicPr>
          <p:cNvPr id="8" name="Picture 7" descr="gui-feistel-rounds.png"/>
          <p:cNvPicPr>
            <a:picLocks noChangeAspect="1"/>
          </p:cNvPicPr>
          <p:nvPr/>
        </p:nvPicPr>
        <p:blipFill>
          <a:blip r:embed="rId3"/>
          <a:stretch>
            <a:fillRect/>
          </a:stretch>
        </p:blipFill>
        <p:spPr>
          <a:xfrm>
            <a:off x="5669280" y="1463040"/>
            <a:ext cx="6035040" cy="3840480"/>
          </a:xfrm>
          <a:prstGeom prst="rect">
            <a:avLst/>
          </a:prstGeom>
          <a:ln w="12700">
            <a:solidFill>
              <a:srgbClr val="E2E1DD"/>
            </a:solidFill>
          </a:ln>
        </p:spPr>
      </p:pic>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a:solidFill>
                  <a:srgbClr val="8A8985"/>
                </a:solidFill>
                <a:latin typeface="Segoe UI"/>
              </a:rPr>
              <a:t>3D Chaotic Refractive Cipher  ·  Malladi Nagarjuna</a:t>
            </a:r>
          </a:p>
        </p:txBody>
      </p:sp>
      <p:sp>
        <p:nvSpPr>
          <p:cNvPr id="10" name="TextBox 9"/>
          <p:cNvSpPr txBox="1"/>
          <p:nvPr/>
        </p:nvSpPr>
        <p:spPr>
          <a:xfrm>
            <a:off x="10911535" y="6446520"/>
            <a:ext cx="822960" cy="274320"/>
          </a:xfrm>
          <a:prstGeom prst="rect">
            <a:avLst/>
          </a:prstGeom>
          <a:noFill/>
        </p:spPr>
        <p:txBody>
          <a:bodyPr wrap="square" anchor="t" lIns="45720" rIns="45720">
            <a:spAutoFit/>
          </a:bodyPr>
          <a:lstStyle/>
          <a:p>
            <a:pPr algn="r">
              <a:spcAft>
                <a:spcPts val="600"/>
              </a:spcAft>
            </a:pPr>
            <a:r>
              <a:rPr sz="1000" b="0">
                <a:solidFill>
                  <a:srgbClr val="8A8985"/>
                </a:solidFill>
                <a:latin typeface="Segoe U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365760"/>
          </a:xfrm>
          <a:prstGeom prst="rect">
            <a:avLst/>
          </a:prstGeom>
          <a:noFill/>
        </p:spPr>
        <p:txBody>
          <a:bodyPr wrap="square" anchor="t" lIns="45720" rIns="45720">
            <a:spAutoFit/>
          </a:bodyPr>
          <a:lstStyle/>
          <a:p>
            <a:pPr algn="l">
              <a:spcAft>
                <a:spcPts val="600"/>
              </a:spcAft>
            </a:pPr>
            <a:r>
              <a:rPr sz="1200" b="1">
                <a:solidFill>
                  <a:srgbClr val="2A78D6"/>
                </a:solidFill>
                <a:latin typeface="Segoe UI"/>
              </a:rPr>
              <a:t>MODE OF OPERATION</a:t>
            </a:r>
          </a:p>
        </p:txBody>
      </p:sp>
      <p:sp>
        <p:nvSpPr>
          <p:cNvPr id="4" name="TextBox 3"/>
          <p:cNvSpPr txBox="1"/>
          <p:nvPr/>
        </p:nvSpPr>
        <p:spPr>
          <a:xfrm>
            <a:off x="548640" y="566928"/>
            <a:ext cx="10972800" cy="822960"/>
          </a:xfrm>
          <a:prstGeom prst="rect">
            <a:avLst/>
          </a:prstGeom>
          <a:noFill/>
        </p:spPr>
        <p:txBody>
          <a:bodyPr wrap="square" anchor="t" lIns="45720" rIns="45720">
            <a:spAutoFit/>
          </a:bodyPr>
          <a:lstStyle/>
          <a:p>
            <a:pPr algn="l">
              <a:spcAft>
                <a:spcPts val="600"/>
              </a:spcAft>
            </a:pPr>
            <a:r>
              <a:rPr sz="3000" b="1">
                <a:solidFill>
                  <a:srgbClr val="12243D"/>
                </a:solidFill>
                <a:latin typeface="Segoe UI"/>
              </a:rPr>
              <a:t>Encrypting real files: CTR mode + HMAC</a:t>
            </a:r>
          </a:p>
        </p:txBody>
      </p:sp>
      <p:sp>
        <p:nvSpPr>
          <p:cNvPr id="5" name="Rectangle 4"/>
          <p:cNvSpPr/>
          <p:nvPr/>
        </p:nvSpPr>
        <p:spPr>
          <a:xfrm>
            <a:off x="548640" y="1691640"/>
            <a:ext cx="1097280" cy="868680"/>
          </a:xfrm>
          <a:prstGeom prst="rect">
            <a:avLst/>
          </a:prstGeom>
          <a:solidFill>
            <a:srgbClr val="6A3EC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Segoe UI"/>
              </a:rPr>
              <a:t>RFC1</a:t>
            </a:r>
          </a:p>
          <a:p>
            <a:pPr algn="ctr"/>
            <a:r>
              <a:rPr sz="1100" b="0">
                <a:solidFill>
                  <a:srgbClr val="F0F0F0"/>
                </a:solidFill>
                <a:latin typeface="Segoe UI"/>
              </a:rPr>
              <a:t>4 B</a:t>
            </a:r>
          </a:p>
        </p:txBody>
      </p:sp>
      <p:sp>
        <p:nvSpPr>
          <p:cNvPr id="6" name="Rectangle 5"/>
          <p:cNvSpPr/>
          <p:nvPr/>
        </p:nvSpPr>
        <p:spPr>
          <a:xfrm>
            <a:off x="1700784" y="1691640"/>
            <a:ext cx="1828800" cy="868680"/>
          </a:xfrm>
          <a:prstGeom prst="rect">
            <a:avLst/>
          </a:prstGeom>
          <a:solidFill>
            <a:srgbClr val="D96A1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Segoe UI"/>
              </a:rPr>
              <a:t>nonce</a:t>
            </a:r>
          </a:p>
          <a:p>
            <a:pPr algn="ctr"/>
            <a:r>
              <a:rPr sz="1100" b="0">
                <a:solidFill>
                  <a:srgbClr val="F0F0F0"/>
                </a:solidFill>
                <a:latin typeface="Segoe UI"/>
              </a:rPr>
              <a:t>12 B random</a:t>
            </a:r>
          </a:p>
        </p:txBody>
      </p:sp>
      <p:sp>
        <p:nvSpPr>
          <p:cNvPr id="7" name="Rectangle 6"/>
          <p:cNvSpPr/>
          <p:nvPr/>
        </p:nvSpPr>
        <p:spPr>
          <a:xfrm>
            <a:off x="3584448" y="1691640"/>
            <a:ext cx="4754880" cy="86868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Segoe UI"/>
              </a:rPr>
              <a:t>ciphertext</a:t>
            </a:r>
          </a:p>
          <a:p>
            <a:pPr algn="ctr"/>
            <a:r>
              <a:rPr sz="1100" b="0">
                <a:solidFill>
                  <a:srgbClr val="F0F0F0"/>
                </a:solidFill>
                <a:latin typeface="Segoe UI"/>
              </a:rPr>
              <a:t>same size as message</a:t>
            </a:r>
          </a:p>
        </p:txBody>
      </p:sp>
      <p:sp>
        <p:nvSpPr>
          <p:cNvPr id="8" name="Rectangle 7"/>
          <p:cNvSpPr/>
          <p:nvPr/>
        </p:nvSpPr>
        <p:spPr>
          <a:xfrm>
            <a:off x="8394192" y="1691640"/>
            <a:ext cx="2194560" cy="868680"/>
          </a:xfrm>
          <a:prstGeom prst="rect">
            <a:avLst/>
          </a:prstGeom>
          <a:solidFill>
            <a:srgbClr val="1E7F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Segoe UI"/>
              </a:rPr>
              <a:t>HMAC tag</a:t>
            </a:r>
          </a:p>
          <a:p>
            <a:pPr algn="ctr"/>
            <a:r>
              <a:rPr sz="1100" b="0">
                <a:solidFill>
                  <a:srgbClr val="F0F0F0"/>
                </a:solidFill>
                <a:latin typeface="Segoe UI"/>
              </a:rPr>
              <a:t>32 B</a:t>
            </a:r>
          </a:p>
        </p:txBody>
      </p:sp>
      <p:sp>
        <p:nvSpPr>
          <p:cNvPr id="9" name="TextBox 8"/>
          <p:cNvSpPr txBox="1"/>
          <p:nvPr/>
        </p:nvSpPr>
        <p:spPr>
          <a:xfrm>
            <a:off x="548640" y="2880360"/>
            <a:ext cx="5669280" cy="3200400"/>
          </a:xfrm>
          <a:prstGeom prst="rect">
            <a:avLst/>
          </a:prstGeom>
          <a:noFill/>
        </p:spPr>
        <p:txBody>
          <a:bodyPr wrap="square">
            <a:spAutoFit/>
          </a:bodyPr>
          <a:lstStyle/>
          <a:p>
            <a:pPr>
              <a:spcAft>
                <a:spcPts val="800"/>
              </a:spcAft>
            </a:pPr>
            <a:r>
              <a:rPr sz="1600">
                <a:solidFill>
                  <a:srgbClr val="2A78D6"/>
                </a:solidFill>
                <a:latin typeface="Segoe UI"/>
              </a:rPr>
              <a:t>•  </a:t>
            </a:r>
            <a:r>
              <a:rPr b="1" sz="1600">
                <a:solidFill>
                  <a:srgbClr val="0B0B0B"/>
                </a:solidFill>
                <a:latin typeface="Segoe UI"/>
              </a:rPr>
              <a:t>CTR:</a:t>
            </a:r>
            <a:r>
              <a:rPr sz="1600">
                <a:solidFill>
                  <a:srgbClr val="0B0B0B"/>
                </a:solidFill>
                <a:latin typeface="Segoe UI"/>
              </a:rPr>
              <a:t> keystreamᵢ = Feistel(nonce ‖ counterᵢ), then ciphertext = message ⊕ keystream</a:t>
            </a:r>
          </a:p>
          <a:p>
            <a:pPr>
              <a:spcAft>
                <a:spcPts val="800"/>
              </a:spcAft>
            </a:pPr>
            <a:r>
              <a:rPr sz="1600">
                <a:solidFill>
                  <a:srgbClr val="2A78D6"/>
                </a:solidFill>
                <a:latin typeface="Segoe UI"/>
              </a:rPr>
              <a:t>•  </a:t>
            </a:r>
            <a:r>
              <a:rPr b="1" sz="1600">
                <a:solidFill>
                  <a:srgbClr val="0B0B0B"/>
                </a:solidFill>
                <a:latin typeface="Segoe UI"/>
              </a:rPr>
              <a:t>New random nonce every time:</a:t>
            </a:r>
            <a:r>
              <a:rPr sz="1600">
                <a:solidFill>
                  <a:srgbClr val="0B0B0B"/>
                </a:solidFill>
                <a:latin typeface="Segoe UI"/>
              </a:rPr>
              <a:t> same file → ~50% of bits differ</a:t>
            </a:r>
          </a:p>
          <a:p>
            <a:pPr>
              <a:spcAft>
                <a:spcPts val="800"/>
              </a:spcAft>
            </a:pPr>
            <a:r>
              <a:rPr sz="1600">
                <a:solidFill>
                  <a:srgbClr val="2A78D6"/>
                </a:solidFill>
                <a:latin typeface="Segoe UI"/>
              </a:rPr>
              <a:t>•  </a:t>
            </a:r>
            <a:r>
              <a:rPr b="1" sz="1600">
                <a:solidFill>
                  <a:srgbClr val="0B0B0B"/>
                </a:solidFill>
                <a:latin typeface="Segoe UI"/>
              </a:rPr>
              <a:t>Encrypt-then-MAC:</a:t>
            </a:r>
            <a:r>
              <a:rPr sz="1600">
                <a:solidFill>
                  <a:srgbClr val="0B0B0B"/>
                </a:solidFill>
                <a:latin typeface="Segoe UI"/>
              </a:rPr>
              <a:t> the tag covers magic + nonce + ciphertext</a:t>
            </a:r>
          </a:p>
          <a:p>
            <a:pPr>
              <a:spcAft>
                <a:spcPts val="800"/>
              </a:spcAft>
            </a:pPr>
            <a:r>
              <a:rPr sz="1600">
                <a:solidFill>
                  <a:srgbClr val="2A78D6"/>
                </a:solidFill>
                <a:latin typeface="Segoe UI"/>
              </a:rPr>
              <a:t>•  </a:t>
            </a:r>
            <a:r>
              <a:rPr b="1" sz="1600">
                <a:solidFill>
                  <a:srgbClr val="0B0B0B"/>
                </a:solidFill>
                <a:latin typeface="Segoe UI"/>
              </a:rPr>
              <a:t>Tag checked first,</a:t>
            </a:r>
            <a:r>
              <a:rPr sz="1600">
                <a:solidFill>
                  <a:srgbClr val="0B0B0B"/>
                </a:solidFill>
                <a:latin typeface="Segoe UI"/>
              </a:rPr>
              <a:t> in constant time: tampered or wrong key → nothing is decrypted</a:t>
            </a:r>
          </a:p>
        </p:txBody>
      </p:sp>
      <p:pic>
        <p:nvPicPr>
          <p:cNvPr id="10" name="Picture 9" descr="gui-encrypt-decrypt.png"/>
          <p:cNvPicPr>
            <a:picLocks noChangeAspect="1"/>
          </p:cNvPicPr>
          <p:nvPr/>
        </p:nvPicPr>
        <p:blipFill>
          <a:blip r:embed="rId3"/>
          <a:stretch>
            <a:fillRect/>
          </a:stretch>
        </p:blipFill>
        <p:spPr>
          <a:xfrm>
            <a:off x="6492240" y="2788920"/>
            <a:ext cx="5212080" cy="3316778"/>
          </a:xfrm>
          <a:prstGeom prst="rect">
            <a:avLst/>
          </a:prstGeom>
          <a:ln w="12700">
            <a:solidFill>
              <a:srgbClr val="E2E1DD"/>
            </a:solidFill>
          </a:ln>
        </p:spPr>
      </p:pic>
      <p:sp>
        <p:nvSpPr>
          <p:cNvPr id="11" name="TextBox 10"/>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a:solidFill>
                  <a:srgbClr val="8A8985"/>
                </a:solidFill>
                <a:latin typeface="Segoe UI"/>
              </a:rPr>
              <a:t>3D Chaotic Refractive Cipher  ·  Malladi Nagarjuna</a:t>
            </a:r>
          </a:p>
        </p:txBody>
      </p:sp>
      <p:sp>
        <p:nvSpPr>
          <p:cNvPr id="12" name="TextBox 11"/>
          <p:cNvSpPr txBox="1"/>
          <p:nvPr/>
        </p:nvSpPr>
        <p:spPr>
          <a:xfrm>
            <a:off x="10911535" y="6446520"/>
            <a:ext cx="822960" cy="274320"/>
          </a:xfrm>
          <a:prstGeom prst="rect">
            <a:avLst/>
          </a:prstGeom>
          <a:noFill/>
        </p:spPr>
        <p:txBody>
          <a:bodyPr wrap="square" anchor="t" lIns="45720" rIns="45720">
            <a:spAutoFit/>
          </a:bodyPr>
          <a:lstStyle/>
          <a:p>
            <a:pPr algn="r">
              <a:spcAft>
                <a:spcPts val="600"/>
              </a:spcAft>
            </a:pPr>
            <a:r>
              <a:rPr sz="1000" b="0">
                <a:solidFill>
                  <a:srgbClr val="8A8985"/>
                </a:solidFill>
                <a:latin typeface="Segoe U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365760"/>
          </a:xfrm>
          <a:prstGeom prst="rect">
            <a:avLst/>
          </a:prstGeom>
          <a:noFill/>
        </p:spPr>
        <p:txBody>
          <a:bodyPr wrap="square" anchor="t" lIns="45720" rIns="45720">
            <a:spAutoFit/>
          </a:bodyPr>
          <a:lstStyle/>
          <a:p>
            <a:pPr algn="l">
              <a:spcAft>
                <a:spcPts val="600"/>
              </a:spcAft>
            </a:pPr>
            <a:r>
              <a:rPr sz="1200" b="1">
                <a:solidFill>
                  <a:srgbClr val="2A78D6"/>
                </a:solidFill>
                <a:latin typeface="Segoe UI"/>
              </a:rPr>
              <a:t>VERIFICATION</a:t>
            </a:r>
          </a:p>
        </p:txBody>
      </p:sp>
      <p:sp>
        <p:nvSpPr>
          <p:cNvPr id="4" name="TextBox 3"/>
          <p:cNvSpPr txBox="1"/>
          <p:nvPr/>
        </p:nvSpPr>
        <p:spPr>
          <a:xfrm>
            <a:off x="548640" y="566928"/>
            <a:ext cx="10972800" cy="822960"/>
          </a:xfrm>
          <a:prstGeom prst="rect">
            <a:avLst/>
          </a:prstGeom>
          <a:noFill/>
        </p:spPr>
        <p:txBody>
          <a:bodyPr wrap="square" anchor="t" lIns="45720" rIns="45720">
            <a:spAutoFit/>
          </a:bodyPr>
          <a:lstStyle/>
          <a:p>
            <a:pPr algn="l">
              <a:spcAft>
                <a:spcPts val="600"/>
              </a:spcAft>
            </a:pPr>
            <a:r>
              <a:rPr sz="3000" b="1">
                <a:solidFill>
                  <a:srgbClr val="12243D"/>
                </a:solidFill>
                <a:latin typeface="Segoe UI"/>
              </a:rPr>
              <a:t>Testing at three levels: everything passes</a:t>
            </a:r>
          </a:p>
        </p:txBody>
      </p:sp>
      <p:sp>
        <p:nvSpPr>
          <p:cNvPr id="5" name="Rounded Rectangle 4"/>
          <p:cNvSpPr/>
          <p:nvPr/>
        </p:nvSpPr>
        <p:spPr>
          <a:xfrm>
            <a:off x="548640" y="1737360"/>
            <a:ext cx="3474720" cy="3017520"/>
          </a:xfrm>
          <a:prstGeom prst="roundRect">
            <a:avLst>
              <a:gd name="adj" fmla="val 12000"/>
            </a:avLst>
          </a:prstGeom>
          <a:solidFill>
            <a:srgbClr val="F3F2E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2243D"/>
                </a:solidFill>
                <a:latin typeface="Segoe UI"/>
              </a:rPr>
              <a:t/>
            </a:r>
          </a:p>
        </p:txBody>
      </p:sp>
      <p:sp>
        <p:nvSpPr>
          <p:cNvPr id="6" name="TextBox 5"/>
          <p:cNvSpPr txBox="1"/>
          <p:nvPr/>
        </p:nvSpPr>
        <p:spPr>
          <a:xfrm>
            <a:off x="777240" y="1965960"/>
            <a:ext cx="3108960" cy="822960"/>
          </a:xfrm>
          <a:prstGeom prst="rect">
            <a:avLst/>
          </a:prstGeom>
          <a:noFill/>
        </p:spPr>
        <p:txBody>
          <a:bodyPr wrap="square" anchor="t" lIns="45720" rIns="45720">
            <a:spAutoFit/>
          </a:bodyPr>
          <a:lstStyle/>
          <a:p>
            <a:pPr algn="l">
              <a:spcAft>
                <a:spcPts val="600"/>
              </a:spcAft>
            </a:pPr>
            <a:r>
              <a:rPr sz="4000" b="1">
                <a:solidFill>
                  <a:srgbClr val="006E00"/>
                </a:solidFill>
                <a:latin typeface="Segoe UI"/>
              </a:rPr>
              <a:t>67 / 67</a:t>
            </a:r>
          </a:p>
        </p:txBody>
      </p:sp>
      <p:sp>
        <p:nvSpPr>
          <p:cNvPr id="7" name="TextBox 6"/>
          <p:cNvSpPr txBox="1"/>
          <p:nvPr/>
        </p:nvSpPr>
        <p:spPr>
          <a:xfrm>
            <a:off x="777240" y="2834640"/>
            <a:ext cx="3108960" cy="457200"/>
          </a:xfrm>
          <a:prstGeom prst="rect">
            <a:avLst/>
          </a:prstGeom>
          <a:noFill/>
        </p:spPr>
        <p:txBody>
          <a:bodyPr wrap="square" anchor="t" lIns="45720" rIns="45720">
            <a:spAutoFit/>
          </a:bodyPr>
          <a:lstStyle/>
          <a:p>
            <a:pPr algn="l">
              <a:spcAft>
                <a:spcPts val="600"/>
              </a:spcAft>
            </a:pPr>
            <a:r>
              <a:rPr sz="1800" b="1">
                <a:solidFill>
                  <a:srgbClr val="12243D"/>
                </a:solidFill>
                <a:latin typeface="Segoe UI"/>
              </a:rPr>
              <a:t>unit tests</a:t>
            </a:r>
          </a:p>
        </p:txBody>
      </p:sp>
      <p:sp>
        <p:nvSpPr>
          <p:cNvPr id="8" name="TextBox 7"/>
          <p:cNvSpPr txBox="1"/>
          <p:nvPr/>
        </p:nvSpPr>
        <p:spPr>
          <a:xfrm>
            <a:off x="777240" y="3383280"/>
            <a:ext cx="3108960" cy="2194560"/>
          </a:xfrm>
          <a:prstGeom prst="rect">
            <a:avLst/>
          </a:prstGeom>
          <a:noFill/>
        </p:spPr>
        <p:txBody>
          <a:bodyPr wrap="square" anchor="t" lIns="45720" rIns="45720">
            <a:spAutoFit/>
          </a:bodyPr>
          <a:lstStyle/>
          <a:p>
            <a:pPr algn="l">
              <a:spcAft>
                <a:spcPts val="600"/>
              </a:spcAft>
            </a:pPr>
            <a:r>
              <a:rPr sz="1400" b="0">
                <a:solidFill>
                  <a:srgbClr val="52514E"/>
                </a:solidFill>
                <a:latin typeface="Segoe UI"/>
              </a:rPr>
              <a:t>SHA-256, HMAC, HKDF official vectors · fixed-point maths · Snell/TIR physics · round trips · tamper rejection at every byte</a:t>
            </a:r>
          </a:p>
        </p:txBody>
      </p:sp>
      <p:sp>
        <p:nvSpPr>
          <p:cNvPr id="9" name="Rounded Rectangle 8"/>
          <p:cNvSpPr/>
          <p:nvPr/>
        </p:nvSpPr>
        <p:spPr>
          <a:xfrm>
            <a:off x="4297679" y="1737360"/>
            <a:ext cx="3474720" cy="3017520"/>
          </a:xfrm>
          <a:prstGeom prst="roundRect">
            <a:avLst>
              <a:gd name="adj" fmla="val 12000"/>
            </a:avLst>
          </a:prstGeom>
          <a:solidFill>
            <a:srgbClr val="F3F2E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2243D"/>
                </a:solidFill>
                <a:latin typeface="Segoe UI"/>
              </a:rPr>
              <a:t/>
            </a:r>
          </a:p>
        </p:txBody>
      </p:sp>
      <p:sp>
        <p:nvSpPr>
          <p:cNvPr id="10" name="TextBox 9"/>
          <p:cNvSpPr txBox="1"/>
          <p:nvPr/>
        </p:nvSpPr>
        <p:spPr>
          <a:xfrm>
            <a:off x="4526279" y="1965960"/>
            <a:ext cx="3108960" cy="822960"/>
          </a:xfrm>
          <a:prstGeom prst="rect">
            <a:avLst/>
          </a:prstGeom>
          <a:noFill/>
        </p:spPr>
        <p:txBody>
          <a:bodyPr wrap="square" anchor="t" lIns="45720" rIns="45720">
            <a:spAutoFit/>
          </a:bodyPr>
          <a:lstStyle/>
          <a:p>
            <a:pPr algn="l">
              <a:spcAft>
                <a:spcPts val="600"/>
              </a:spcAft>
            </a:pPr>
            <a:r>
              <a:rPr sz="4000" b="1">
                <a:solidFill>
                  <a:srgbClr val="006E00"/>
                </a:solidFill>
                <a:latin typeface="Segoe UI"/>
              </a:rPr>
              <a:t>19 / 19</a:t>
            </a:r>
          </a:p>
        </p:txBody>
      </p:sp>
      <p:sp>
        <p:nvSpPr>
          <p:cNvPr id="11" name="TextBox 10"/>
          <p:cNvSpPr txBox="1"/>
          <p:nvPr/>
        </p:nvSpPr>
        <p:spPr>
          <a:xfrm>
            <a:off x="4526279" y="2834640"/>
            <a:ext cx="3108960" cy="457200"/>
          </a:xfrm>
          <a:prstGeom prst="rect">
            <a:avLst/>
          </a:prstGeom>
          <a:noFill/>
        </p:spPr>
        <p:txBody>
          <a:bodyPr wrap="square" anchor="t" lIns="45720" rIns="45720">
            <a:spAutoFit/>
          </a:bodyPr>
          <a:lstStyle/>
          <a:p>
            <a:pPr algn="l">
              <a:spcAft>
                <a:spcPts val="600"/>
              </a:spcAft>
            </a:pPr>
            <a:r>
              <a:rPr sz="1800" b="1">
                <a:solidFill>
                  <a:srgbClr val="12243D"/>
                </a:solidFill>
                <a:latin typeface="Segoe UI"/>
              </a:rPr>
              <a:t>end-to-end CLI checks</a:t>
            </a:r>
          </a:p>
        </p:txBody>
      </p:sp>
      <p:sp>
        <p:nvSpPr>
          <p:cNvPr id="12" name="TextBox 11"/>
          <p:cNvSpPr txBox="1"/>
          <p:nvPr/>
        </p:nvSpPr>
        <p:spPr>
          <a:xfrm>
            <a:off x="4526279" y="3383280"/>
            <a:ext cx="3108960" cy="2194560"/>
          </a:xfrm>
          <a:prstGeom prst="rect">
            <a:avLst/>
          </a:prstGeom>
          <a:noFill/>
        </p:spPr>
        <p:txBody>
          <a:bodyPr wrap="square" anchor="t" lIns="45720" rIns="45720">
            <a:spAutoFit/>
          </a:bodyPr>
          <a:lstStyle/>
          <a:p>
            <a:pPr algn="l">
              <a:spcAft>
                <a:spcPts val="600"/>
              </a:spcAft>
            </a:pPr>
            <a:r>
              <a:rPr sz="1400" b="0">
                <a:solidFill>
                  <a:srgbClr val="52514E"/>
                </a:solidFill>
                <a:latin typeface="Segoe UI"/>
              </a:rPr>
              <a:t>empty / text / 200 KB files · +48-byte overhead · fresh nonce · wrong key &amp; tampered file rejected</a:t>
            </a:r>
          </a:p>
        </p:txBody>
      </p:sp>
      <p:sp>
        <p:nvSpPr>
          <p:cNvPr id="13" name="Rounded Rectangle 12"/>
          <p:cNvSpPr/>
          <p:nvPr/>
        </p:nvSpPr>
        <p:spPr>
          <a:xfrm>
            <a:off x="8046719" y="1737360"/>
            <a:ext cx="3474720" cy="3017520"/>
          </a:xfrm>
          <a:prstGeom prst="roundRect">
            <a:avLst>
              <a:gd name="adj" fmla="val 12000"/>
            </a:avLst>
          </a:prstGeom>
          <a:solidFill>
            <a:srgbClr val="F3F2E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2243D"/>
                </a:solidFill>
                <a:latin typeface="Segoe UI"/>
              </a:rPr>
              <a:t/>
            </a:r>
          </a:p>
        </p:txBody>
      </p:sp>
      <p:sp>
        <p:nvSpPr>
          <p:cNvPr id="14" name="TextBox 13"/>
          <p:cNvSpPr txBox="1"/>
          <p:nvPr/>
        </p:nvSpPr>
        <p:spPr>
          <a:xfrm>
            <a:off x="8275319" y="1965960"/>
            <a:ext cx="3108960" cy="822960"/>
          </a:xfrm>
          <a:prstGeom prst="rect">
            <a:avLst/>
          </a:prstGeom>
          <a:noFill/>
        </p:spPr>
        <p:txBody>
          <a:bodyPr wrap="square" anchor="t" lIns="45720" rIns="45720">
            <a:spAutoFit/>
          </a:bodyPr>
          <a:lstStyle/>
          <a:p>
            <a:pPr algn="l">
              <a:spcAft>
                <a:spcPts val="600"/>
              </a:spcAft>
            </a:pPr>
            <a:r>
              <a:rPr sz="4000" b="1">
                <a:solidFill>
                  <a:srgbClr val="006E00"/>
                </a:solidFill>
                <a:latin typeface="Segoe UI"/>
              </a:rPr>
              <a:t>All PASS</a:t>
            </a:r>
          </a:p>
        </p:txBody>
      </p:sp>
      <p:sp>
        <p:nvSpPr>
          <p:cNvPr id="15" name="TextBox 14"/>
          <p:cNvSpPr txBox="1"/>
          <p:nvPr/>
        </p:nvSpPr>
        <p:spPr>
          <a:xfrm>
            <a:off x="8275319" y="2834640"/>
            <a:ext cx="3108960" cy="457200"/>
          </a:xfrm>
          <a:prstGeom prst="rect">
            <a:avLst/>
          </a:prstGeom>
          <a:noFill/>
        </p:spPr>
        <p:txBody>
          <a:bodyPr wrap="square" anchor="t" lIns="45720" rIns="45720">
            <a:spAutoFit/>
          </a:bodyPr>
          <a:lstStyle/>
          <a:p>
            <a:pPr algn="l">
              <a:spcAft>
                <a:spcPts val="600"/>
              </a:spcAft>
            </a:pPr>
            <a:r>
              <a:rPr sz="1800" b="1">
                <a:solidFill>
                  <a:srgbClr val="12243D"/>
                </a:solidFill>
                <a:latin typeface="Segoe UI"/>
              </a:rPr>
              <a:t>automated attack suite</a:t>
            </a:r>
          </a:p>
        </p:txBody>
      </p:sp>
      <p:sp>
        <p:nvSpPr>
          <p:cNvPr id="16" name="TextBox 15"/>
          <p:cNvSpPr txBox="1"/>
          <p:nvPr/>
        </p:nvSpPr>
        <p:spPr>
          <a:xfrm>
            <a:off x="8275319" y="3383280"/>
            <a:ext cx="3108960" cy="2194560"/>
          </a:xfrm>
          <a:prstGeom prst="rect">
            <a:avLst/>
          </a:prstGeom>
          <a:noFill/>
        </p:spPr>
        <p:txBody>
          <a:bodyPr wrap="square" anchor="t" lIns="45720" rIns="45720">
            <a:spAutoFit/>
          </a:bodyPr>
          <a:lstStyle/>
          <a:p>
            <a:pPr algn="l">
              <a:spcAft>
                <a:spcPts val="600"/>
              </a:spcAft>
            </a:pPr>
            <a:r>
              <a:rPr sz="1400" b="0">
                <a:solidFill>
                  <a:srgbClr val="52514E"/>
                </a:solidFill>
                <a:latin typeface="Segoe UI"/>
              </a:rPr>
              <a:t>avalanche matrix · linearity / impulse · codebook attack · entropy, χ², correlation, NIST monobit &amp; runs</a:t>
            </a:r>
          </a:p>
        </p:txBody>
      </p:sp>
      <p:sp>
        <p:nvSpPr>
          <p:cNvPr id="17" name="TextBox 16"/>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a:solidFill>
                  <a:srgbClr val="8A8985"/>
                </a:solidFill>
                <a:latin typeface="Segoe UI"/>
              </a:rPr>
              <a:t>3D Chaotic Refractive Cipher  ·  Malladi Nagarjuna</a:t>
            </a:r>
          </a:p>
        </p:txBody>
      </p:sp>
      <p:sp>
        <p:nvSpPr>
          <p:cNvPr id="18" name="TextBox 17"/>
          <p:cNvSpPr txBox="1"/>
          <p:nvPr/>
        </p:nvSpPr>
        <p:spPr>
          <a:xfrm>
            <a:off x="10911535" y="6446520"/>
            <a:ext cx="822960" cy="274320"/>
          </a:xfrm>
          <a:prstGeom prst="rect">
            <a:avLst/>
          </a:prstGeom>
          <a:noFill/>
        </p:spPr>
        <p:txBody>
          <a:bodyPr wrap="square" anchor="t" lIns="45720" rIns="45720">
            <a:spAutoFit/>
          </a:bodyPr>
          <a:lstStyle/>
          <a:p>
            <a:pPr algn="r">
              <a:spcAft>
                <a:spcPts val="600"/>
              </a:spcAft>
            </a:pPr>
            <a:r>
              <a:rPr sz="1000" b="0">
                <a:solidFill>
                  <a:srgbClr val="8A8985"/>
                </a:solidFill>
                <a:latin typeface="Segoe U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365760"/>
          </a:xfrm>
          <a:prstGeom prst="rect">
            <a:avLst/>
          </a:prstGeom>
          <a:noFill/>
        </p:spPr>
        <p:txBody>
          <a:bodyPr wrap="square" anchor="t" lIns="45720" rIns="45720">
            <a:spAutoFit/>
          </a:bodyPr>
          <a:lstStyle/>
          <a:p>
            <a:pPr algn="l">
              <a:spcAft>
                <a:spcPts val="600"/>
              </a:spcAft>
            </a:pPr>
            <a:r>
              <a:rPr sz="1200" b="1">
                <a:solidFill>
                  <a:srgbClr val="2A78D6"/>
                </a:solidFill>
                <a:latin typeface="Segoe UI"/>
              </a:rPr>
              <a:t>ATTACK RESULTS</a:t>
            </a:r>
          </a:p>
        </p:txBody>
      </p:sp>
      <p:sp>
        <p:nvSpPr>
          <p:cNvPr id="4" name="TextBox 3"/>
          <p:cNvSpPr txBox="1"/>
          <p:nvPr/>
        </p:nvSpPr>
        <p:spPr>
          <a:xfrm>
            <a:off x="548640" y="566928"/>
            <a:ext cx="10972800" cy="822960"/>
          </a:xfrm>
          <a:prstGeom prst="rect">
            <a:avLst/>
          </a:prstGeom>
          <a:noFill/>
        </p:spPr>
        <p:txBody>
          <a:bodyPr wrap="square" anchor="t" lIns="45720" rIns="45720">
            <a:spAutoFit/>
          </a:bodyPr>
          <a:lstStyle/>
          <a:p>
            <a:pPr algn="l">
              <a:spcAft>
                <a:spcPts val="600"/>
              </a:spcAft>
            </a:pPr>
            <a:r>
              <a:rPr sz="3000" b="1">
                <a:solidFill>
                  <a:srgbClr val="12243D"/>
                </a:solidFill>
                <a:latin typeface="Segoe UI"/>
              </a:rPr>
              <a:t>Avalanche: one flipped bit reaches 50% after 3 rounds</a:t>
            </a:r>
          </a:p>
        </p:txBody>
      </p:sp>
      <p:graphicFrame>
        <p:nvGraphicFramePr>
          <p:cNvPr id="5" name="Chart 4"/>
          <p:cNvGraphicFramePr>
            <a:graphicFrameLocks noGrp="1"/>
          </p:cNvGraphicFramePr>
          <p:nvPr/>
        </p:nvGraphicFramePr>
        <p:xfrm>
          <a:off x="548640" y="1463040"/>
          <a:ext cx="7315200" cy="4754880"/>
        </p:xfrm>
        <a:graphic>
          <a:graphicData uri="http://schemas.openxmlformats.org/drawingml/2006/chart">
            <c:chart xmlns:c="http://schemas.openxmlformats.org/drawingml/2006/chart" r:id="rId3"/>
          </a:graphicData>
        </a:graphic>
      </p:graphicFrame>
      <p:sp>
        <p:nvSpPr>
          <p:cNvPr id="6" name="TextBox 5"/>
          <p:cNvSpPr txBox="1"/>
          <p:nvPr/>
        </p:nvSpPr>
        <p:spPr>
          <a:xfrm>
            <a:off x="8138160" y="1737360"/>
            <a:ext cx="3566160" cy="4389120"/>
          </a:xfrm>
          <a:prstGeom prst="rect">
            <a:avLst/>
          </a:prstGeom>
          <a:noFill/>
        </p:spPr>
        <p:txBody>
          <a:bodyPr wrap="square">
            <a:spAutoFit/>
          </a:bodyPr>
          <a:lstStyle/>
          <a:p>
            <a:pPr>
              <a:spcAft>
                <a:spcPts val="800"/>
              </a:spcAft>
            </a:pPr>
            <a:r>
              <a:rPr sz="1500">
                <a:solidFill>
                  <a:srgbClr val="2A78D6"/>
                </a:solidFill>
                <a:latin typeface="Segoe UI"/>
              </a:rPr>
              <a:t>•  </a:t>
            </a:r>
            <a:r>
              <a:rPr b="1" sz="1500">
                <a:solidFill>
                  <a:srgbClr val="0B0B0B"/>
                </a:solidFill>
                <a:latin typeface="Segoe UI"/>
              </a:rPr>
              <a:t>1 round: 75% of SAC-matrix cells badly off,</a:t>
            </a:r>
            <a:r>
              <a:rPr sz="1500">
                <a:solidFill>
                  <a:srgbClr val="0B0B0B"/>
                </a:solidFill>
                <a:latin typeface="Segoe UI"/>
              </a:rPr>
              <a:t> correctly flagged as weak (the test works)</a:t>
            </a:r>
          </a:p>
          <a:p>
            <a:pPr>
              <a:spcAft>
                <a:spcPts val="800"/>
              </a:spcAft>
            </a:pPr>
            <a:r>
              <a:rPr sz="1500">
                <a:solidFill>
                  <a:srgbClr val="2A78D6"/>
                </a:solidFill>
                <a:latin typeface="Segoe UI"/>
              </a:rPr>
              <a:t>•  </a:t>
            </a:r>
            <a:r>
              <a:rPr b="1" sz="1500">
                <a:solidFill>
                  <a:srgbClr val="0B0B0B"/>
                </a:solidFill>
                <a:latin typeface="Segoe UI"/>
              </a:rPr>
              <a:t>3+ rounds: 50.0%;</a:t>
            </a:r>
            <a:r>
              <a:rPr sz="1500">
                <a:solidFill>
                  <a:srgbClr val="0B0B0B"/>
                </a:solidFill>
                <a:latin typeface="Segoe UI"/>
              </a:rPr>
              <a:t> worst cell only 0.117 from ideal</a:t>
            </a:r>
          </a:p>
          <a:p>
            <a:pPr>
              <a:spcAft>
                <a:spcPts val="800"/>
              </a:spcAft>
            </a:pPr>
            <a:r>
              <a:rPr sz="1500">
                <a:solidFill>
                  <a:srgbClr val="2A78D6"/>
                </a:solidFill>
                <a:latin typeface="Segoe UI"/>
              </a:rPr>
              <a:t>•  </a:t>
            </a:r>
            <a:r>
              <a:rPr b="1" sz="1500">
                <a:solidFill>
                  <a:srgbClr val="0B0B0B"/>
                </a:solidFill>
                <a:latin typeface="Segoe UI"/>
              </a:rPr>
              <a:t>We use 16 rounds,</a:t>
            </a:r>
            <a:r>
              <a:rPr sz="1500">
                <a:solidFill>
                  <a:srgbClr val="0B0B0B"/>
                </a:solidFill>
                <a:latin typeface="Segoe UI"/>
              </a:rPr>
              <a:t> a 5× safety margin</a:t>
            </a:r>
          </a:p>
          <a:p>
            <a:pPr>
              <a:spcAft>
                <a:spcPts val="800"/>
              </a:spcAft>
            </a:pPr>
            <a:r>
              <a:rPr sz="1500">
                <a:solidFill>
                  <a:srgbClr val="2A78D6"/>
                </a:solidFill>
                <a:latin typeface="Segoe UI"/>
              </a:rPr>
              <a:t>•  </a:t>
            </a:r>
            <a:r>
              <a:rPr b="1" sz="1500">
                <a:solidFill>
                  <a:srgbClr val="0B0B0B"/>
                </a:solidFill>
                <a:latin typeface="Segoe UI"/>
              </a:rPr>
              <a:t>Key avalanche:</a:t>
            </a:r>
            <a:r>
              <a:rPr sz="1500">
                <a:solidFill>
                  <a:srgbClr val="0B0B0B"/>
                </a:solidFill>
                <a:latin typeface="Segoe UI"/>
              </a:rPr>
              <a:t> 1 key bit → 50.3% of ciphertext bits change</a:t>
            </a:r>
          </a:p>
        </p:txBody>
      </p:sp>
      <p:sp>
        <p:nvSpPr>
          <p:cNvPr id="7" name="TextBox 6"/>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a:solidFill>
                  <a:srgbClr val="8A8985"/>
                </a:solidFill>
                <a:latin typeface="Segoe UI"/>
              </a:rPr>
              <a:t>3D Chaotic Refractive Cipher  ·  Malladi Nagarjuna</a:t>
            </a:r>
          </a:p>
        </p:txBody>
      </p:sp>
      <p:sp>
        <p:nvSpPr>
          <p:cNvPr id="8" name="TextBox 7"/>
          <p:cNvSpPr txBox="1"/>
          <p:nvPr/>
        </p:nvSpPr>
        <p:spPr>
          <a:xfrm>
            <a:off x="10911535" y="6446520"/>
            <a:ext cx="822960" cy="274320"/>
          </a:xfrm>
          <a:prstGeom prst="rect">
            <a:avLst/>
          </a:prstGeom>
          <a:noFill/>
        </p:spPr>
        <p:txBody>
          <a:bodyPr wrap="square" anchor="t" lIns="45720" rIns="45720">
            <a:spAutoFit/>
          </a:bodyPr>
          <a:lstStyle/>
          <a:p>
            <a:pPr algn="r">
              <a:spcAft>
                <a:spcPts val="600"/>
              </a:spcAft>
            </a:pPr>
            <a:r>
              <a:rPr sz="1000" b="0">
                <a:solidFill>
                  <a:srgbClr val="8A8985"/>
                </a:solidFill>
                <a:latin typeface="Segoe U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365760"/>
          </a:xfrm>
          <a:prstGeom prst="rect">
            <a:avLst/>
          </a:prstGeom>
          <a:noFill/>
        </p:spPr>
        <p:txBody>
          <a:bodyPr wrap="square" anchor="t" lIns="45720" rIns="45720">
            <a:spAutoFit/>
          </a:bodyPr>
          <a:lstStyle/>
          <a:p>
            <a:pPr algn="l">
              <a:spcAft>
                <a:spcPts val="600"/>
              </a:spcAft>
            </a:pPr>
            <a:r>
              <a:rPr sz="1200" b="1">
                <a:solidFill>
                  <a:srgbClr val="2A78D6"/>
                </a:solidFill>
                <a:latin typeface="Segoe UI"/>
              </a:rPr>
              <a:t>ATTACK RESULTS</a:t>
            </a:r>
          </a:p>
        </p:txBody>
      </p:sp>
      <p:sp>
        <p:nvSpPr>
          <p:cNvPr id="4" name="TextBox 3"/>
          <p:cNvSpPr txBox="1"/>
          <p:nvPr/>
        </p:nvSpPr>
        <p:spPr>
          <a:xfrm>
            <a:off x="548640" y="566928"/>
            <a:ext cx="10972800" cy="822960"/>
          </a:xfrm>
          <a:prstGeom prst="rect">
            <a:avLst/>
          </a:prstGeom>
          <a:noFill/>
        </p:spPr>
        <p:txBody>
          <a:bodyPr wrap="square" anchor="t" lIns="45720" rIns="45720">
            <a:spAutoFit/>
          </a:bodyPr>
          <a:lstStyle/>
          <a:p>
            <a:pPr algn="l">
              <a:spcAft>
                <a:spcPts val="600"/>
              </a:spcAft>
            </a:pPr>
            <a:r>
              <a:rPr sz="3000" b="1">
                <a:solidFill>
                  <a:srgbClr val="12243D"/>
                </a:solidFill>
                <a:latin typeface="Segoe UI"/>
              </a:rPr>
              <a:t>Codebook attack: original breaks, final holds</a:t>
            </a:r>
          </a:p>
        </p:txBody>
      </p:sp>
      <p:sp>
        <p:nvSpPr>
          <p:cNvPr id="5" name="TextBox 4"/>
          <p:cNvSpPr txBox="1"/>
          <p:nvPr/>
        </p:nvSpPr>
        <p:spPr>
          <a:xfrm>
            <a:off x="548640" y="1417320"/>
            <a:ext cx="6400800" cy="365760"/>
          </a:xfrm>
          <a:prstGeom prst="rect">
            <a:avLst/>
          </a:prstGeom>
          <a:noFill/>
        </p:spPr>
        <p:txBody>
          <a:bodyPr wrap="square" anchor="t" lIns="45720" rIns="45720">
            <a:spAutoFit/>
          </a:bodyPr>
          <a:lstStyle/>
          <a:p>
            <a:pPr algn="l">
              <a:spcAft>
                <a:spcPts val="600"/>
              </a:spcAft>
            </a:pPr>
            <a:r>
              <a:rPr sz="1400" b="0">
                <a:solidFill>
                  <a:srgbClr val="52514E"/>
                </a:solidFill>
                <a:latin typeface="Segoe UI"/>
              </a:rPr>
              <a:t>% of a secret sentence recovered without the key</a:t>
            </a:r>
          </a:p>
        </p:txBody>
      </p:sp>
      <p:graphicFrame>
        <p:nvGraphicFramePr>
          <p:cNvPr id="6" name="Chart 5"/>
          <p:cNvGraphicFramePr>
            <a:graphicFrameLocks noGrp="1"/>
          </p:cNvGraphicFramePr>
          <p:nvPr/>
        </p:nvGraphicFramePr>
        <p:xfrm>
          <a:off x="548640" y="1783080"/>
          <a:ext cx="6400800" cy="4480560"/>
        </p:xfrm>
        <a:graphic>
          <a:graphicData uri="http://schemas.openxmlformats.org/drawingml/2006/chart">
            <c:chart xmlns:c="http://schemas.openxmlformats.org/drawingml/2006/chart" r:id="rId3"/>
          </a:graphicData>
        </a:graphic>
      </p:graphicFrame>
      <p:graphicFrame>
        <p:nvGraphicFramePr>
          <p:cNvPr id="7" name="Table 6"/>
          <p:cNvGraphicFramePr>
            <a:graphicFrameLocks noGrp="1"/>
          </p:cNvGraphicFramePr>
          <p:nvPr/>
        </p:nvGraphicFramePr>
        <p:xfrm>
          <a:off x="7223760" y="1737360"/>
          <a:ext cx="4434840" cy="1828800"/>
        </p:xfrm>
        <a:graphic>
          <a:graphicData uri="http://schemas.openxmlformats.org/drawingml/2006/table">
            <a:tbl>
              <a:tblPr firstRow="1" bandRow="1">
                <a:tableStyleId>{5C22544A-7EE6-4342-B048-85BDC9FD1C3A}</a:tableStyleId>
              </a:tblPr>
              <a:tblGrid>
                <a:gridCol w="2606040"/>
                <a:gridCol w="1828800"/>
              </a:tblGrid>
              <a:tr h="457200">
                <a:tc>
                  <a:txBody>
                    <a:bodyPr wrap="square"/>
                    <a:lstStyle/>
                    <a:p>
                      <a:r>
                        <a:rPr sz="1300" b="1">
                          <a:solidFill>
                            <a:srgbClr val="FFFFFF"/>
                          </a:solidFill>
                          <a:latin typeface="Segoe UI"/>
                        </a:rPr>
                        <a:t>Linearity test</a:t>
                      </a:r>
                    </a:p>
                  </a:txBody>
                  <a:tcPr marL="73152" marR="73152" anchor="ctr">
                    <a:solidFill>
                      <a:srgbClr val="12243D"/>
                    </a:solidFill>
                  </a:tcPr>
                </a:tc>
                <a:tc>
                  <a:txBody>
                    <a:bodyPr wrap="square"/>
                    <a:lstStyle/>
                    <a:p>
                      <a:r>
                        <a:rPr sz="1300" b="1">
                          <a:solidFill>
                            <a:srgbClr val="FFFFFF"/>
                          </a:solidFill>
                          <a:latin typeface="Segoe UI"/>
                        </a:rPr>
                        <a:t>Relation holds</a:t>
                      </a:r>
                    </a:p>
                  </a:txBody>
                  <a:tcPr marL="73152" marR="73152" anchor="ctr">
                    <a:solidFill>
                      <a:srgbClr val="12243D"/>
                    </a:solidFill>
                  </a:tcPr>
                </a:tc>
              </a:tr>
              <a:tr h="457200">
                <a:tc>
                  <a:txBody>
                    <a:bodyPr wrap="square"/>
                    <a:lstStyle/>
                    <a:p>
                      <a:r>
                        <a:rPr sz="1300" b="1">
                          <a:solidFill>
                            <a:srgbClr val="0B0B0B"/>
                          </a:solidFill>
                          <a:latin typeface="Segoe UI"/>
                        </a:rPr>
                        <a:t>1 round, sparse impulses</a:t>
                      </a:r>
                    </a:p>
                  </a:txBody>
                  <a:tcPr marL="73152" marR="73152" anchor="ctr">
                    <a:solidFill>
                      <a:srgbClr val="FCFCFB"/>
                    </a:solidFill>
                  </a:tcPr>
                </a:tc>
                <a:tc>
                  <a:txBody>
                    <a:bodyPr wrap="square"/>
                    <a:lstStyle/>
                    <a:p>
                      <a:r>
                        <a:rPr sz="1300" b="0">
                          <a:solidFill>
                            <a:srgbClr val="0B0B0B"/>
                          </a:solidFill>
                          <a:latin typeface="Segoe UI"/>
                        </a:rPr>
                        <a:t>100% (caught)</a:t>
                      </a:r>
                    </a:p>
                  </a:txBody>
                  <a:tcPr marL="73152" marR="73152" anchor="ctr">
                    <a:solidFill>
                      <a:srgbClr val="FCFCFB"/>
                    </a:solidFill>
                  </a:tcPr>
                </a:tc>
              </a:tr>
              <a:tr h="457200">
                <a:tc>
                  <a:txBody>
                    <a:bodyPr wrap="square"/>
                    <a:lstStyle/>
                    <a:p>
                      <a:r>
                        <a:rPr sz="1300" b="1">
                          <a:solidFill>
                            <a:srgbClr val="0B0B0B"/>
                          </a:solidFill>
                          <a:latin typeface="Segoe UI"/>
                        </a:rPr>
                        <a:t>16 rounds, sparse</a:t>
                      </a:r>
                    </a:p>
                  </a:txBody>
                  <a:tcPr marL="73152" marR="73152" anchor="ctr">
                    <a:solidFill>
                      <a:srgbClr val="F3F2EF"/>
                    </a:solidFill>
                  </a:tcPr>
                </a:tc>
                <a:tc>
                  <a:txBody>
                    <a:bodyPr wrap="square"/>
                    <a:lstStyle/>
                    <a:p>
                      <a:r>
                        <a:rPr sz="1300" b="0">
                          <a:solidFill>
                            <a:srgbClr val="0B0B0B"/>
                          </a:solidFill>
                          <a:latin typeface="Segoe UI"/>
                        </a:rPr>
                        <a:t>0%</a:t>
                      </a:r>
                    </a:p>
                  </a:txBody>
                  <a:tcPr marL="73152" marR="73152" anchor="ctr">
                    <a:solidFill>
                      <a:srgbClr val="F3F2EF"/>
                    </a:solidFill>
                  </a:tcPr>
                </a:tc>
              </a:tr>
              <a:tr h="457200">
                <a:tc>
                  <a:txBody>
                    <a:bodyPr wrap="square"/>
                    <a:lstStyle/>
                    <a:p>
                      <a:r>
                        <a:rPr sz="1300" b="1">
                          <a:solidFill>
                            <a:srgbClr val="0B0B0B"/>
                          </a:solidFill>
                          <a:latin typeface="Segoe UI"/>
                        </a:rPr>
                        <a:t>16 rounds, random pairs</a:t>
                      </a:r>
                    </a:p>
                  </a:txBody>
                  <a:tcPr marL="73152" marR="73152" anchor="ctr">
                    <a:solidFill>
                      <a:srgbClr val="FCFCFB"/>
                    </a:solidFill>
                  </a:tcPr>
                </a:tc>
                <a:tc>
                  <a:txBody>
                    <a:bodyPr wrap="square"/>
                    <a:lstStyle/>
                    <a:p>
                      <a:r>
                        <a:rPr sz="1300" b="0">
                          <a:solidFill>
                            <a:srgbClr val="0B0B0B"/>
                          </a:solidFill>
                          <a:latin typeface="Segoe UI"/>
                        </a:rPr>
                        <a:t>0%</a:t>
                      </a:r>
                    </a:p>
                  </a:txBody>
                  <a:tcPr marL="73152" marR="73152" anchor="ctr">
                    <a:solidFill>
                      <a:srgbClr val="FCFCFB"/>
                    </a:solidFill>
                  </a:tcPr>
                </a:tc>
              </a:tr>
            </a:tbl>
          </a:graphicData>
        </a:graphic>
      </p:graphicFrame>
      <p:sp>
        <p:nvSpPr>
          <p:cNvPr id="8" name="TextBox 7"/>
          <p:cNvSpPr txBox="1"/>
          <p:nvPr/>
        </p:nvSpPr>
        <p:spPr>
          <a:xfrm>
            <a:off x="7223760" y="3840480"/>
            <a:ext cx="4434840" cy="2011680"/>
          </a:xfrm>
          <a:prstGeom prst="rect">
            <a:avLst/>
          </a:prstGeom>
          <a:noFill/>
        </p:spPr>
        <p:txBody>
          <a:bodyPr wrap="square" anchor="t" lIns="45720" rIns="45720">
            <a:spAutoFit/>
          </a:bodyPr>
          <a:lstStyle/>
          <a:p>
            <a:pPr algn="l">
              <a:spcAft>
                <a:spcPts val="600"/>
              </a:spcAft>
            </a:pPr>
            <a:r>
              <a:rPr sz="1500" b="1">
                <a:solidFill>
                  <a:srgbClr val="12243D"/>
                </a:solidFill>
                <a:latin typeface="Segoe UI"/>
              </a:rPr>
              <a:t>Why it matters</a:t>
            </a:r>
          </a:p>
          <a:p>
            <a:pPr algn="l">
              <a:spcAft>
                <a:spcPts val="600"/>
              </a:spcAft>
            </a:pPr>
            <a:r>
              <a:rPr sz="1400" b="0">
                <a:solidFill>
                  <a:srgbClr val="52514E"/>
                </a:solidFill>
                <a:latin typeface="Segoe UI"/>
              </a:rPr>
              <a:t>Every attack is shown to succeed on a deliberately weak version first, so a pass on the real cipher means something. 1.4% is chance level (1 of 71 bytes).</a:t>
            </a:r>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a:solidFill>
                  <a:srgbClr val="8A8985"/>
                </a:solidFill>
                <a:latin typeface="Segoe UI"/>
              </a:rPr>
              <a:t>3D Chaotic Refractive Cipher  ·  Malladi Nagarjuna</a:t>
            </a:r>
          </a:p>
        </p:txBody>
      </p:sp>
      <p:sp>
        <p:nvSpPr>
          <p:cNvPr id="10" name="TextBox 9"/>
          <p:cNvSpPr txBox="1"/>
          <p:nvPr/>
        </p:nvSpPr>
        <p:spPr>
          <a:xfrm>
            <a:off x="10911535" y="6446520"/>
            <a:ext cx="822960" cy="274320"/>
          </a:xfrm>
          <a:prstGeom prst="rect">
            <a:avLst/>
          </a:prstGeom>
          <a:noFill/>
        </p:spPr>
        <p:txBody>
          <a:bodyPr wrap="square" anchor="t" lIns="45720" rIns="45720">
            <a:spAutoFit/>
          </a:bodyPr>
          <a:lstStyle/>
          <a:p>
            <a:pPr algn="r">
              <a:spcAft>
                <a:spcPts val="600"/>
              </a:spcAft>
            </a:pPr>
            <a:r>
              <a:rPr sz="1000" b="0">
                <a:solidFill>
                  <a:srgbClr val="8A8985"/>
                </a:solidFill>
                <a:latin typeface="Segoe U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365760"/>
          </a:xfrm>
          <a:prstGeom prst="rect">
            <a:avLst/>
          </a:prstGeom>
          <a:noFill/>
        </p:spPr>
        <p:txBody>
          <a:bodyPr wrap="square" anchor="t" lIns="45720" rIns="45720">
            <a:spAutoFit/>
          </a:bodyPr>
          <a:lstStyle/>
          <a:p>
            <a:pPr algn="l">
              <a:spcAft>
                <a:spcPts val="600"/>
              </a:spcAft>
            </a:pPr>
            <a:r>
              <a:rPr sz="1200" b="1">
                <a:solidFill>
                  <a:srgbClr val="2A78D6"/>
                </a:solidFill>
                <a:latin typeface="Segoe UI"/>
              </a:rPr>
              <a:t>ATTACK RESULTS</a:t>
            </a:r>
          </a:p>
        </p:txBody>
      </p:sp>
      <p:sp>
        <p:nvSpPr>
          <p:cNvPr id="4" name="TextBox 3"/>
          <p:cNvSpPr txBox="1"/>
          <p:nvPr/>
        </p:nvSpPr>
        <p:spPr>
          <a:xfrm>
            <a:off x="548640" y="566928"/>
            <a:ext cx="10972800" cy="822960"/>
          </a:xfrm>
          <a:prstGeom prst="rect">
            <a:avLst/>
          </a:prstGeom>
          <a:noFill/>
        </p:spPr>
        <p:txBody>
          <a:bodyPr wrap="square" anchor="t" lIns="45720" rIns="45720">
            <a:spAutoFit/>
          </a:bodyPr>
          <a:lstStyle/>
          <a:p>
            <a:pPr algn="l">
              <a:spcAft>
                <a:spcPts val="600"/>
              </a:spcAft>
            </a:pPr>
            <a:r>
              <a:rPr sz="3000" b="1">
                <a:solidFill>
                  <a:srgbClr val="12243D"/>
                </a:solidFill>
                <a:latin typeface="Segoe UI"/>
              </a:rPr>
              <a:t>Statistics on 10 MB: ciphertext looks like pure noise</a:t>
            </a:r>
          </a:p>
        </p:txBody>
      </p:sp>
      <p:graphicFrame>
        <p:nvGraphicFramePr>
          <p:cNvPr id="5" name="Table 4"/>
          <p:cNvGraphicFramePr>
            <a:graphicFrameLocks noGrp="1"/>
          </p:cNvGraphicFramePr>
          <p:nvPr/>
        </p:nvGraphicFramePr>
        <p:xfrm>
          <a:off x="548640" y="1645920"/>
          <a:ext cx="11064240" cy="3182112"/>
        </p:xfrm>
        <a:graphic>
          <a:graphicData uri="http://schemas.openxmlformats.org/drawingml/2006/table">
            <a:tbl>
              <a:tblPr firstRow="1" bandRow="1">
                <a:tableStyleId>{5C22544A-7EE6-4342-B048-85BDC9FD1C3A}</a:tableStyleId>
              </a:tblPr>
              <a:tblGrid>
                <a:gridCol w="2743200"/>
                <a:gridCol w="3017520"/>
                <a:gridCol w="2560320"/>
                <a:gridCol w="2743200"/>
              </a:tblGrid>
              <a:tr h="530352">
                <a:tc>
                  <a:txBody>
                    <a:bodyPr wrap="square"/>
                    <a:lstStyle/>
                    <a:p>
                      <a:r>
                        <a:rPr sz="1500" b="1">
                          <a:solidFill>
                            <a:srgbClr val="FFFFFF"/>
                          </a:solidFill>
                          <a:latin typeface="Segoe UI"/>
                        </a:rPr>
                        <a:t>Test (10 MB)</a:t>
                      </a:r>
                    </a:p>
                  </a:txBody>
                  <a:tcPr marL="73152" marR="73152" anchor="ctr">
                    <a:solidFill>
                      <a:srgbClr val="12243D"/>
                    </a:solidFill>
                  </a:tcPr>
                </a:tc>
                <a:tc>
                  <a:txBody>
                    <a:bodyPr wrap="square"/>
                    <a:lstStyle/>
                    <a:p>
                      <a:r>
                        <a:rPr sz="1500" b="1">
                          <a:solidFill>
                            <a:srgbClr val="FFFFFF"/>
                          </a:solidFill>
                          <a:latin typeface="Segoe UI"/>
                        </a:rPr>
                        <a:t>Plaintext (repeated sentence)</a:t>
                      </a:r>
                    </a:p>
                  </a:txBody>
                  <a:tcPr marL="73152" marR="73152" anchor="ctr">
                    <a:solidFill>
                      <a:srgbClr val="12243D"/>
                    </a:solidFill>
                  </a:tcPr>
                </a:tc>
                <a:tc>
                  <a:txBody>
                    <a:bodyPr wrap="square"/>
                    <a:lstStyle/>
                    <a:p>
                      <a:r>
                        <a:rPr sz="1500" b="1">
                          <a:solidFill>
                            <a:srgbClr val="FFFFFF"/>
                          </a:solidFill>
                          <a:latin typeface="Segoe UI"/>
                        </a:rPr>
                        <a:t>Ciphertext</a:t>
                      </a:r>
                    </a:p>
                  </a:txBody>
                  <a:tcPr marL="73152" marR="73152" anchor="ctr">
                    <a:solidFill>
                      <a:srgbClr val="12243D"/>
                    </a:solidFill>
                  </a:tcPr>
                </a:tc>
                <a:tc>
                  <a:txBody>
                    <a:bodyPr wrap="square"/>
                    <a:lstStyle/>
                    <a:p>
                      <a:r>
                        <a:rPr sz="1500" b="1">
                          <a:solidFill>
                            <a:srgbClr val="FFFFFF"/>
                          </a:solidFill>
                          <a:latin typeface="Segoe UI"/>
                        </a:rPr>
                        <a:t>Ideal / pass condition</a:t>
                      </a:r>
                    </a:p>
                  </a:txBody>
                  <a:tcPr marL="73152" marR="73152" anchor="ctr">
                    <a:solidFill>
                      <a:srgbClr val="12243D"/>
                    </a:solidFill>
                  </a:tcPr>
                </a:tc>
              </a:tr>
              <a:tr h="530352">
                <a:tc>
                  <a:txBody>
                    <a:bodyPr wrap="square"/>
                    <a:lstStyle/>
                    <a:p>
                      <a:r>
                        <a:rPr sz="1500" b="1">
                          <a:solidFill>
                            <a:srgbClr val="0B0B0B"/>
                          </a:solidFill>
                          <a:latin typeface="Segoe UI"/>
                        </a:rPr>
                        <a:t>Shannon entropy</a:t>
                      </a:r>
                    </a:p>
                  </a:txBody>
                  <a:tcPr marL="73152" marR="73152" anchor="ctr">
                    <a:solidFill>
                      <a:srgbClr val="FCFCFB"/>
                    </a:solidFill>
                  </a:tcPr>
                </a:tc>
                <a:tc>
                  <a:txBody>
                    <a:bodyPr wrap="square"/>
                    <a:lstStyle/>
                    <a:p>
                      <a:r>
                        <a:rPr sz="1500" b="0">
                          <a:solidFill>
                            <a:srgbClr val="0B0B0B"/>
                          </a:solidFill>
                          <a:latin typeface="Segoe UI"/>
                        </a:rPr>
                        <a:t>4.44 bits/byte</a:t>
                      </a:r>
                    </a:p>
                  </a:txBody>
                  <a:tcPr marL="73152" marR="73152" anchor="ctr">
                    <a:solidFill>
                      <a:srgbClr val="FCFCFB"/>
                    </a:solidFill>
                  </a:tcPr>
                </a:tc>
                <a:tc>
                  <a:txBody>
                    <a:bodyPr wrap="square"/>
                    <a:lstStyle/>
                    <a:p>
                      <a:r>
                        <a:rPr sz="1500" b="0">
                          <a:solidFill>
                            <a:srgbClr val="0B0B0B"/>
                          </a:solidFill>
                          <a:latin typeface="Segoe UI"/>
                        </a:rPr>
                        <a:t>7.999984 bits/byte</a:t>
                      </a:r>
                    </a:p>
                  </a:txBody>
                  <a:tcPr marL="73152" marR="73152" anchor="ctr">
                    <a:solidFill>
                      <a:srgbClr val="E6EFFA"/>
                    </a:solidFill>
                  </a:tcPr>
                </a:tc>
                <a:tc>
                  <a:txBody>
                    <a:bodyPr wrap="square"/>
                    <a:lstStyle/>
                    <a:p>
                      <a:r>
                        <a:rPr sz="1500" b="0">
                          <a:solidFill>
                            <a:srgbClr val="0B0B0B"/>
                          </a:solidFill>
                          <a:latin typeface="Segoe UI"/>
                        </a:rPr>
                        <a:t>&gt; 7.999 (max 8)</a:t>
                      </a:r>
                    </a:p>
                  </a:txBody>
                  <a:tcPr marL="73152" marR="73152" anchor="ctr">
                    <a:solidFill>
                      <a:srgbClr val="FCFCFB"/>
                    </a:solidFill>
                  </a:tcPr>
                </a:tc>
              </a:tr>
              <a:tr h="530352">
                <a:tc>
                  <a:txBody>
                    <a:bodyPr wrap="square"/>
                    <a:lstStyle/>
                    <a:p>
                      <a:r>
                        <a:rPr sz="1500" b="1">
                          <a:solidFill>
                            <a:srgbClr val="0B0B0B"/>
                          </a:solidFill>
                          <a:latin typeface="Segoe UI"/>
                        </a:rPr>
                        <a:t>Chi-square (255 dof)</a:t>
                      </a:r>
                    </a:p>
                  </a:txBody>
                  <a:tcPr marL="73152" marR="73152" anchor="ctr">
                    <a:solidFill>
                      <a:srgbClr val="F3F2EF"/>
                    </a:solidFill>
                  </a:tcPr>
                </a:tc>
                <a:tc>
                  <a:txBody>
                    <a:bodyPr wrap="square"/>
                    <a:lstStyle/>
                    <a:p>
                      <a:r>
                        <a:rPr sz="1500" b="0">
                          <a:solidFill>
                            <a:srgbClr val="0B0B0B"/>
                          </a:solidFill>
                          <a:latin typeface="Segoe UI"/>
                        </a:rPr>
                        <a:t>168,251,837 (p = 0)</a:t>
                      </a:r>
                    </a:p>
                  </a:txBody>
                  <a:tcPr marL="73152" marR="73152" anchor="ctr">
                    <a:solidFill>
                      <a:srgbClr val="F3F2EF"/>
                    </a:solidFill>
                  </a:tcPr>
                </a:tc>
                <a:tc>
                  <a:txBody>
                    <a:bodyPr wrap="square"/>
                    <a:lstStyle/>
                    <a:p>
                      <a:r>
                        <a:rPr sz="1500" b="0">
                          <a:solidFill>
                            <a:srgbClr val="0B0B0B"/>
                          </a:solidFill>
                          <a:latin typeface="Segoe UI"/>
                        </a:rPr>
                        <a:t>221.5 (p = 0.936)</a:t>
                      </a:r>
                    </a:p>
                  </a:txBody>
                  <a:tcPr marL="73152" marR="73152" anchor="ctr">
                    <a:solidFill>
                      <a:srgbClr val="E6EFFA"/>
                    </a:solidFill>
                  </a:tcPr>
                </a:tc>
                <a:tc>
                  <a:txBody>
                    <a:bodyPr wrap="square"/>
                    <a:lstStyle/>
                    <a:p>
                      <a:r>
                        <a:rPr sz="1500" b="0">
                          <a:solidFill>
                            <a:srgbClr val="0B0B0B"/>
                          </a:solidFill>
                          <a:latin typeface="Segoe UI"/>
                        </a:rPr>
                        <a:t>p between 0.001 and 0.999</a:t>
                      </a:r>
                    </a:p>
                  </a:txBody>
                  <a:tcPr marL="73152" marR="73152" anchor="ctr">
                    <a:solidFill>
                      <a:srgbClr val="F3F2EF"/>
                    </a:solidFill>
                  </a:tcPr>
                </a:tc>
              </a:tr>
              <a:tr h="530352">
                <a:tc>
                  <a:txBody>
                    <a:bodyPr wrap="square"/>
                    <a:lstStyle/>
                    <a:p>
                      <a:r>
                        <a:rPr sz="1500" b="1">
                          <a:solidFill>
                            <a:srgbClr val="0B0B0B"/>
                          </a:solidFill>
                          <a:latin typeface="Segoe UI"/>
                        </a:rPr>
                        <a:t>Serial correlation</a:t>
                      </a:r>
                    </a:p>
                  </a:txBody>
                  <a:tcPr marL="73152" marR="73152" anchor="ctr">
                    <a:solidFill>
                      <a:srgbClr val="FCFCFB"/>
                    </a:solidFill>
                  </a:tcPr>
                </a:tc>
                <a:tc>
                  <a:txBody>
                    <a:bodyPr wrap="square"/>
                    <a:lstStyle/>
                    <a:p>
                      <a:r>
                        <a:rPr sz="1500" b="0">
                          <a:solidFill>
                            <a:srgbClr val="0B0B0B"/>
                          </a:solidFill>
                          <a:latin typeface="Segoe UI"/>
                        </a:rPr>
                        <a:t>−0.126</a:t>
                      </a:r>
                    </a:p>
                  </a:txBody>
                  <a:tcPr marL="73152" marR="73152" anchor="ctr">
                    <a:solidFill>
                      <a:srgbClr val="FCFCFB"/>
                    </a:solidFill>
                  </a:tcPr>
                </a:tc>
                <a:tc>
                  <a:txBody>
                    <a:bodyPr wrap="square"/>
                    <a:lstStyle/>
                    <a:p>
                      <a:r>
                        <a:rPr sz="1500" b="0">
                          <a:solidFill>
                            <a:srgbClr val="0B0B0B"/>
                          </a:solidFill>
                          <a:latin typeface="Segoe UI"/>
                        </a:rPr>
                        <a:t>−0.00016</a:t>
                      </a:r>
                    </a:p>
                  </a:txBody>
                  <a:tcPr marL="73152" marR="73152" anchor="ctr">
                    <a:solidFill>
                      <a:srgbClr val="E6EFFA"/>
                    </a:solidFill>
                  </a:tcPr>
                </a:tc>
                <a:tc>
                  <a:txBody>
                    <a:bodyPr wrap="square"/>
                    <a:lstStyle/>
                    <a:p>
                      <a:r>
                        <a:rPr sz="1500" b="0">
                          <a:solidFill>
                            <a:srgbClr val="0B0B0B"/>
                          </a:solidFill>
                          <a:latin typeface="Segoe UI"/>
                        </a:rPr>
                        <a:t>≈ 0</a:t>
                      </a:r>
                    </a:p>
                  </a:txBody>
                  <a:tcPr marL="73152" marR="73152" anchor="ctr">
                    <a:solidFill>
                      <a:srgbClr val="FCFCFB"/>
                    </a:solidFill>
                  </a:tcPr>
                </a:tc>
              </a:tr>
              <a:tr h="530352">
                <a:tc>
                  <a:txBody>
                    <a:bodyPr wrap="square"/>
                    <a:lstStyle/>
                    <a:p>
                      <a:r>
                        <a:rPr sz="1500" b="1">
                          <a:solidFill>
                            <a:srgbClr val="0B0B0B"/>
                          </a:solidFill>
                          <a:latin typeface="Segoe UI"/>
                        </a:rPr>
                        <a:t>NIST monobit p-value</a:t>
                      </a:r>
                    </a:p>
                  </a:txBody>
                  <a:tcPr marL="73152" marR="73152" anchor="ctr">
                    <a:solidFill>
                      <a:srgbClr val="F3F2EF"/>
                    </a:solidFill>
                  </a:tcPr>
                </a:tc>
                <a:tc>
                  <a:txBody>
                    <a:bodyPr wrap="square"/>
                    <a:lstStyle/>
                    <a:p>
                      <a:r>
                        <a:rPr sz="1500" b="0">
                          <a:solidFill>
                            <a:srgbClr val="0B0B0B"/>
                          </a:solidFill>
                          <a:latin typeface="Segoe UI"/>
                        </a:rPr>
                        <a:t>0.000</a:t>
                      </a:r>
                    </a:p>
                  </a:txBody>
                  <a:tcPr marL="73152" marR="73152" anchor="ctr">
                    <a:solidFill>
                      <a:srgbClr val="F3F2EF"/>
                    </a:solidFill>
                  </a:tcPr>
                </a:tc>
                <a:tc>
                  <a:txBody>
                    <a:bodyPr wrap="square"/>
                    <a:lstStyle/>
                    <a:p>
                      <a:r>
                        <a:rPr sz="1500" b="0">
                          <a:solidFill>
                            <a:srgbClr val="0B0B0B"/>
                          </a:solidFill>
                          <a:latin typeface="Segoe UI"/>
                        </a:rPr>
                        <a:t>0.558</a:t>
                      </a:r>
                    </a:p>
                  </a:txBody>
                  <a:tcPr marL="73152" marR="73152" anchor="ctr">
                    <a:solidFill>
                      <a:srgbClr val="E6EFFA"/>
                    </a:solidFill>
                  </a:tcPr>
                </a:tc>
                <a:tc>
                  <a:txBody>
                    <a:bodyPr wrap="square"/>
                    <a:lstStyle/>
                    <a:p>
                      <a:r>
                        <a:rPr sz="1500" b="0">
                          <a:solidFill>
                            <a:srgbClr val="0B0B0B"/>
                          </a:solidFill>
                          <a:latin typeface="Segoe UI"/>
                        </a:rPr>
                        <a:t>&gt; 0.001</a:t>
                      </a:r>
                    </a:p>
                  </a:txBody>
                  <a:tcPr marL="73152" marR="73152" anchor="ctr">
                    <a:solidFill>
                      <a:srgbClr val="F3F2EF"/>
                    </a:solidFill>
                  </a:tcPr>
                </a:tc>
              </a:tr>
              <a:tr h="530352">
                <a:tc>
                  <a:txBody>
                    <a:bodyPr wrap="square"/>
                    <a:lstStyle/>
                    <a:p>
                      <a:r>
                        <a:rPr sz="1500" b="1">
                          <a:solidFill>
                            <a:srgbClr val="0B0B0B"/>
                          </a:solidFill>
                          <a:latin typeface="Segoe UI"/>
                        </a:rPr>
                        <a:t>NIST runs p-value</a:t>
                      </a:r>
                    </a:p>
                  </a:txBody>
                  <a:tcPr marL="73152" marR="73152" anchor="ctr">
                    <a:solidFill>
                      <a:srgbClr val="FCFCFB"/>
                    </a:solidFill>
                  </a:tcPr>
                </a:tc>
                <a:tc>
                  <a:txBody>
                    <a:bodyPr wrap="square"/>
                    <a:lstStyle/>
                    <a:p>
                      <a:r>
                        <a:rPr sz="1500" b="0">
                          <a:solidFill>
                            <a:srgbClr val="0B0B0B"/>
                          </a:solidFill>
                          <a:latin typeface="Segoe UI"/>
                        </a:rPr>
                        <a:t>0.000</a:t>
                      </a:r>
                    </a:p>
                  </a:txBody>
                  <a:tcPr marL="73152" marR="73152" anchor="ctr">
                    <a:solidFill>
                      <a:srgbClr val="FCFCFB"/>
                    </a:solidFill>
                  </a:tcPr>
                </a:tc>
                <a:tc>
                  <a:txBody>
                    <a:bodyPr wrap="square"/>
                    <a:lstStyle/>
                    <a:p>
                      <a:r>
                        <a:rPr sz="1500" b="0">
                          <a:solidFill>
                            <a:srgbClr val="0B0B0B"/>
                          </a:solidFill>
                          <a:latin typeface="Segoe UI"/>
                        </a:rPr>
                        <a:t>0.790</a:t>
                      </a:r>
                    </a:p>
                  </a:txBody>
                  <a:tcPr marL="73152" marR="73152" anchor="ctr">
                    <a:solidFill>
                      <a:srgbClr val="E6EFFA"/>
                    </a:solidFill>
                  </a:tcPr>
                </a:tc>
                <a:tc>
                  <a:txBody>
                    <a:bodyPr wrap="square"/>
                    <a:lstStyle/>
                    <a:p>
                      <a:r>
                        <a:rPr sz="1500" b="0">
                          <a:solidFill>
                            <a:srgbClr val="0B0B0B"/>
                          </a:solidFill>
                          <a:latin typeface="Segoe UI"/>
                        </a:rPr>
                        <a:t>&gt; 0.001</a:t>
                      </a:r>
                    </a:p>
                  </a:txBody>
                  <a:tcPr marL="73152" marR="73152" anchor="ctr">
                    <a:solidFill>
                      <a:srgbClr val="FCFCFB"/>
                    </a:solidFill>
                  </a:tcPr>
                </a:tc>
              </a:tr>
            </a:tbl>
          </a:graphicData>
        </a:graphic>
      </p:graphicFrame>
      <p:sp>
        <p:nvSpPr>
          <p:cNvPr id="6" name="Rounded Rectangle 5"/>
          <p:cNvSpPr/>
          <p:nvPr/>
        </p:nvSpPr>
        <p:spPr>
          <a:xfrm>
            <a:off x="548640" y="5120640"/>
            <a:ext cx="11064240" cy="685800"/>
          </a:xfrm>
          <a:prstGeom prst="roundRect">
            <a:avLst>
              <a:gd name="adj" fmla="val 12000"/>
            </a:avLst>
          </a:prstGeom>
          <a:solidFill>
            <a:srgbClr val="FDECEC"/>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C22F2E"/>
                </a:solidFill>
                <a:latin typeface="Segoe UI"/>
              </a:rPr>
              <a:t>Passing statistical tests rules out obvious flaws. It does not prove a cipher is secure.</a:t>
            </a:r>
          </a:p>
        </p:txBody>
      </p:sp>
      <p:sp>
        <p:nvSpPr>
          <p:cNvPr id="7" name="TextBox 6"/>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a:solidFill>
                  <a:srgbClr val="8A8985"/>
                </a:solidFill>
                <a:latin typeface="Segoe UI"/>
              </a:rPr>
              <a:t>3D Chaotic Refractive Cipher  ·  Malladi Nagarjuna</a:t>
            </a:r>
          </a:p>
        </p:txBody>
      </p:sp>
      <p:sp>
        <p:nvSpPr>
          <p:cNvPr id="8" name="TextBox 7"/>
          <p:cNvSpPr txBox="1"/>
          <p:nvPr/>
        </p:nvSpPr>
        <p:spPr>
          <a:xfrm>
            <a:off x="10911535" y="6446520"/>
            <a:ext cx="822960" cy="274320"/>
          </a:xfrm>
          <a:prstGeom prst="rect">
            <a:avLst/>
          </a:prstGeom>
          <a:noFill/>
        </p:spPr>
        <p:txBody>
          <a:bodyPr wrap="square" anchor="t" lIns="45720" rIns="45720">
            <a:spAutoFit/>
          </a:bodyPr>
          <a:lstStyle/>
          <a:p>
            <a:pPr algn="r">
              <a:spcAft>
                <a:spcPts val="600"/>
              </a:spcAft>
            </a:pPr>
            <a:r>
              <a:rPr sz="1000" b="0">
                <a:solidFill>
                  <a:srgbClr val="8A8985"/>
                </a:solidFill>
                <a:latin typeface="Segoe U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365760"/>
          </a:xfrm>
          <a:prstGeom prst="rect">
            <a:avLst/>
          </a:prstGeom>
          <a:noFill/>
        </p:spPr>
        <p:txBody>
          <a:bodyPr wrap="square" anchor="t" lIns="45720" rIns="45720">
            <a:spAutoFit/>
          </a:bodyPr>
          <a:lstStyle/>
          <a:p>
            <a:pPr algn="l">
              <a:spcAft>
                <a:spcPts val="600"/>
              </a:spcAft>
            </a:pPr>
            <a:r>
              <a:rPr sz="1200" b="1">
                <a:solidFill>
                  <a:srgbClr val="2A78D6"/>
                </a:solidFill>
                <a:latin typeface="Segoe UI"/>
              </a:rPr>
              <a:t>CONTEXT</a:t>
            </a:r>
          </a:p>
        </p:txBody>
      </p:sp>
      <p:sp>
        <p:nvSpPr>
          <p:cNvPr id="4" name="TextBox 3"/>
          <p:cNvSpPr txBox="1"/>
          <p:nvPr/>
        </p:nvSpPr>
        <p:spPr>
          <a:xfrm>
            <a:off x="548640" y="566928"/>
            <a:ext cx="10972800" cy="822960"/>
          </a:xfrm>
          <a:prstGeom prst="rect">
            <a:avLst/>
          </a:prstGeom>
          <a:noFill/>
        </p:spPr>
        <p:txBody>
          <a:bodyPr wrap="square" anchor="t" lIns="45720" rIns="45720">
            <a:spAutoFit/>
          </a:bodyPr>
          <a:lstStyle/>
          <a:p>
            <a:pPr algn="l">
              <a:spcAft>
                <a:spcPts val="600"/>
              </a:spcAft>
            </a:pPr>
            <a:r>
              <a:rPr sz="3000" b="1">
                <a:solidFill>
                  <a:srgbClr val="12243D"/>
                </a:solidFill>
                <a:latin typeface="Segoe UI"/>
              </a:rPr>
              <a:t>Honest comparison with AES-256</a:t>
            </a:r>
          </a:p>
        </p:txBody>
      </p:sp>
      <p:graphicFrame>
        <p:nvGraphicFramePr>
          <p:cNvPr id="5" name="Table 4"/>
          <p:cNvGraphicFramePr>
            <a:graphicFrameLocks noGrp="1"/>
          </p:cNvGraphicFramePr>
          <p:nvPr/>
        </p:nvGraphicFramePr>
        <p:xfrm>
          <a:off x="548640" y="1554480"/>
          <a:ext cx="11064240" cy="4023360"/>
        </p:xfrm>
        <a:graphic>
          <a:graphicData uri="http://schemas.openxmlformats.org/drawingml/2006/table">
            <a:tbl>
              <a:tblPr firstRow="1" bandRow="1">
                <a:tableStyleId>{5C22544A-7EE6-4342-B048-85BDC9FD1C3A}</a:tableStyleId>
              </a:tblPr>
              <a:tblGrid>
                <a:gridCol w="3017520"/>
                <a:gridCol w="4023360"/>
                <a:gridCol w="4023360"/>
              </a:tblGrid>
              <a:tr h="502920">
                <a:tc>
                  <a:txBody>
                    <a:bodyPr wrap="square"/>
                    <a:lstStyle/>
                    <a:p>
                      <a:r>
                        <a:rPr sz="1400" b="1">
                          <a:solidFill>
                            <a:srgbClr val="FFFFFF"/>
                          </a:solidFill>
                          <a:latin typeface="Segoe UI"/>
                        </a:rPr>
                        <a:t/>
                      </a:r>
                    </a:p>
                  </a:txBody>
                  <a:tcPr marL="73152" marR="73152" anchor="ctr">
                    <a:solidFill>
                      <a:srgbClr val="12243D"/>
                    </a:solidFill>
                  </a:tcPr>
                </a:tc>
                <a:tc>
                  <a:txBody>
                    <a:bodyPr wrap="square"/>
                    <a:lstStyle/>
                    <a:p>
                      <a:r>
                        <a:rPr sz="1400" b="1">
                          <a:solidFill>
                            <a:srgbClr val="FFFFFF"/>
                          </a:solidFill>
                          <a:latin typeface="Segoe UI"/>
                        </a:rPr>
                        <a:t>Refractive cipher (this project)</a:t>
                      </a:r>
                    </a:p>
                  </a:txBody>
                  <a:tcPr marL="73152" marR="73152" anchor="ctr">
                    <a:solidFill>
                      <a:srgbClr val="12243D"/>
                    </a:solidFill>
                  </a:tcPr>
                </a:tc>
                <a:tc>
                  <a:txBody>
                    <a:bodyPr wrap="square"/>
                    <a:lstStyle/>
                    <a:p>
                      <a:r>
                        <a:rPr sz="1400" b="1">
                          <a:solidFill>
                            <a:srgbClr val="FFFFFF"/>
                          </a:solidFill>
                          <a:latin typeface="Segoe UI"/>
                        </a:rPr>
                        <a:t>AES-256</a:t>
                      </a:r>
                    </a:p>
                  </a:txBody>
                  <a:tcPr marL="73152" marR="73152" anchor="ctr">
                    <a:solidFill>
                      <a:srgbClr val="12243D"/>
                    </a:solidFill>
                  </a:tcPr>
                </a:tc>
              </a:tr>
              <a:tr h="502920">
                <a:tc>
                  <a:txBody>
                    <a:bodyPr wrap="square"/>
                    <a:lstStyle/>
                    <a:p>
                      <a:r>
                        <a:rPr sz="1400" b="1">
                          <a:solidFill>
                            <a:srgbClr val="0B0B0B"/>
                          </a:solidFill>
                          <a:latin typeface="Segoe UI"/>
                        </a:rPr>
                        <a:t>Block / key size</a:t>
                      </a:r>
                    </a:p>
                  </a:txBody>
                  <a:tcPr marL="73152" marR="73152" anchor="ctr">
                    <a:solidFill>
                      <a:srgbClr val="FCFCFB"/>
                    </a:solidFill>
                  </a:tcPr>
                </a:tc>
                <a:tc>
                  <a:txBody>
                    <a:bodyPr wrap="square"/>
                    <a:lstStyle/>
                    <a:p>
                      <a:r>
                        <a:rPr sz="1400" b="0">
                          <a:solidFill>
                            <a:srgbClr val="0B0B0B"/>
                          </a:solidFill>
                          <a:latin typeface="Segoe UI"/>
                        </a:rPr>
                        <a:t>128-bit / 256-bit</a:t>
                      </a:r>
                    </a:p>
                  </a:txBody>
                  <a:tcPr marL="73152" marR="73152" anchor="ctr">
                    <a:solidFill>
                      <a:srgbClr val="FCFCFB"/>
                    </a:solidFill>
                  </a:tcPr>
                </a:tc>
                <a:tc>
                  <a:txBody>
                    <a:bodyPr wrap="square"/>
                    <a:lstStyle/>
                    <a:p>
                      <a:r>
                        <a:rPr sz="1400" b="0">
                          <a:solidFill>
                            <a:srgbClr val="0B0B0B"/>
                          </a:solidFill>
                          <a:latin typeface="Segoe UI"/>
                        </a:rPr>
                        <a:t>128-bit / 256-bit</a:t>
                      </a:r>
                    </a:p>
                  </a:txBody>
                  <a:tcPr marL="73152" marR="73152" anchor="ctr">
                    <a:solidFill>
                      <a:srgbClr val="FCFCFB"/>
                    </a:solidFill>
                  </a:tcPr>
                </a:tc>
              </a:tr>
              <a:tr h="502920">
                <a:tc>
                  <a:txBody>
                    <a:bodyPr wrap="square"/>
                    <a:lstStyle/>
                    <a:p>
                      <a:r>
                        <a:rPr sz="1400" b="1">
                          <a:solidFill>
                            <a:srgbClr val="0B0B0B"/>
                          </a:solidFill>
                          <a:latin typeface="Segoe UI"/>
                        </a:rPr>
                        <a:t>Structure</a:t>
                      </a:r>
                    </a:p>
                  </a:txBody>
                  <a:tcPr marL="73152" marR="73152" anchor="ctr">
                    <a:solidFill>
                      <a:srgbClr val="F3F2EF"/>
                    </a:solidFill>
                  </a:tcPr>
                </a:tc>
                <a:tc>
                  <a:txBody>
                    <a:bodyPr wrap="square"/>
                    <a:lstStyle/>
                    <a:p>
                      <a:r>
                        <a:rPr sz="1400" b="0">
                          <a:solidFill>
                            <a:srgbClr val="0B0B0B"/>
                          </a:solidFill>
                          <a:latin typeface="Segoe UI"/>
                        </a:rPr>
                        <a:t>16-round Feistel, ray tracer as F</a:t>
                      </a:r>
                    </a:p>
                  </a:txBody>
                  <a:tcPr marL="73152" marR="73152" anchor="ctr">
                    <a:solidFill>
                      <a:srgbClr val="F3F2EF"/>
                    </a:solidFill>
                  </a:tcPr>
                </a:tc>
                <a:tc>
                  <a:txBody>
                    <a:bodyPr wrap="square"/>
                    <a:lstStyle/>
                    <a:p>
                      <a:r>
                        <a:rPr sz="1400" b="0">
                          <a:solidFill>
                            <a:srgbClr val="0B0B0B"/>
                          </a:solidFill>
                          <a:latin typeface="Segoe UI"/>
                        </a:rPr>
                        <a:t>14-round substitution-permutation network</a:t>
                      </a:r>
                    </a:p>
                  </a:txBody>
                  <a:tcPr marL="73152" marR="73152" anchor="ctr">
                    <a:solidFill>
                      <a:srgbClr val="F3F2EF"/>
                    </a:solidFill>
                  </a:tcPr>
                </a:tc>
              </a:tr>
              <a:tr h="502920">
                <a:tc>
                  <a:txBody>
                    <a:bodyPr wrap="square"/>
                    <a:lstStyle/>
                    <a:p>
                      <a:r>
                        <a:rPr sz="1400" b="1">
                          <a:solidFill>
                            <a:srgbClr val="0B0B0B"/>
                          </a:solidFill>
                          <a:latin typeface="Segoe UI"/>
                        </a:rPr>
                        <a:t>Speed (measured, same laptop)</a:t>
                      </a:r>
                    </a:p>
                  </a:txBody>
                  <a:tcPr marL="73152" marR="73152" anchor="ctr">
                    <a:solidFill>
                      <a:srgbClr val="FCFCFB"/>
                    </a:solidFill>
                  </a:tcPr>
                </a:tc>
                <a:tc>
                  <a:txBody>
                    <a:bodyPr wrap="square"/>
                    <a:lstStyle/>
                    <a:p>
                      <a:r>
                        <a:rPr sz="1400" b="0">
                          <a:solidFill>
                            <a:srgbClr val="0B0B0B"/>
                          </a:solidFill>
                          <a:latin typeface="Segoe UI"/>
                        </a:rPr>
                        <a:t>~0.14 MB/s</a:t>
                      </a:r>
                    </a:p>
                  </a:txBody>
                  <a:tcPr marL="73152" marR="73152" anchor="ctr">
                    <a:solidFill>
                      <a:srgbClr val="FCFCFB"/>
                    </a:solidFill>
                  </a:tcPr>
                </a:tc>
                <a:tc>
                  <a:txBody>
                    <a:bodyPr wrap="square"/>
                    <a:lstStyle/>
                    <a:p>
                      <a:r>
                        <a:rPr sz="1400" b="0">
                          <a:solidFill>
                            <a:srgbClr val="0B0B0B"/>
                          </a:solidFill>
                          <a:latin typeface="Segoe UI"/>
                        </a:rPr>
                        <a:t>~7,400 MB/s (AES-GCM with AES-NI)</a:t>
                      </a:r>
                    </a:p>
                  </a:txBody>
                  <a:tcPr marL="73152" marR="73152" anchor="ctr">
                    <a:solidFill>
                      <a:srgbClr val="FCFCFB"/>
                    </a:solidFill>
                  </a:tcPr>
                </a:tc>
              </a:tr>
              <a:tr h="502920">
                <a:tc>
                  <a:txBody>
                    <a:bodyPr wrap="square"/>
                    <a:lstStyle/>
                    <a:p>
                      <a:r>
                        <a:rPr sz="1400" b="1">
                          <a:solidFill>
                            <a:srgbClr val="0B0B0B"/>
                          </a:solidFill>
                          <a:latin typeface="Segoe UI"/>
                        </a:rPr>
                        <a:t>Security proof</a:t>
                      </a:r>
                    </a:p>
                  </a:txBody>
                  <a:tcPr marL="73152" marR="73152" anchor="ctr">
                    <a:solidFill>
                      <a:srgbClr val="F3F2EF"/>
                    </a:solidFill>
                  </a:tcPr>
                </a:tc>
                <a:tc>
                  <a:txBody>
                    <a:bodyPr wrap="square"/>
                    <a:lstStyle/>
                    <a:p>
                      <a:r>
                        <a:rPr sz="1400" b="0">
                          <a:solidFill>
                            <a:srgbClr val="0B0B0B"/>
                          </a:solidFill>
                          <a:latin typeface="Segoe UI"/>
                        </a:rPr>
                        <a:t>None</a:t>
                      </a:r>
                    </a:p>
                  </a:txBody>
                  <a:tcPr marL="73152" marR="73152" anchor="ctr">
                    <a:solidFill>
                      <a:srgbClr val="F3F2EF"/>
                    </a:solidFill>
                  </a:tcPr>
                </a:tc>
                <a:tc>
                  <a:txBody>
                    <a:bodyPr wrap="square"/>
                    <a:lstStyle/>
                    <a:p>
                      <a:r>
                        <a:rPr sz="1400" b="0">
                          <a:solidFill>
                            <a:srgbClr val="0B0B0B"/>
                          </a:solidFill>
                          <a:latin typeface="Segoe UI"/>
                        </a:rPr>
                        <a:t>Provable bounds vs differential / linear attacks</a:t>
                      </a:r>
                    </a:p>
                  </a:txBody>
                  <a:tcPr marL="73152" marR="73152" anchor="ctr">
                    <a:solidFill>
                      <a:srgbClr val="F3F2EF"/>
                    </a:solidFill>
                  </a:tcPr>
                </a:tc>
              </a:tr>
              <a:tr h="502920">
                <a:tc>
                  <a:txBody>
                    <a:bodyPr wrap="square"/>
                    <a:lstStyle/>
                    <a:p>
                      <a:r>
                        <a:rPr sz="1400" b="1">
                          <a:solidFill>
                            <a:srgbClr val="0B0B0B"/>
                          </a:solidFill>
                          <a:latin typeface="Segoe UI"/>
                        </a:rPr>
                        <a:t>Public cryptanalysis</a:t>
                      </a:r>
                    </a:p>
                  </a:txBody>
                  <a:tcPr marL="73152" marR="73152" anchor="ctr">
                    <a:solidFill>
                      <a:srgbClr val="FCFCFB"/>
                    </a:solidFill>
                  </a:tcPr>
                </a:tc>
                <a:tc>
                  <a:txBody>
                    <a:bodyPr wrap="square"/>
                    <a:lstStyle/>
                    <a:p>
                      <a:r>
                        <a:rPr sz="1400" b="0">
                          <a:solidFill>
                            <a:srgbClr val="0B0B0B"/>
                          </a:solidFill>
                          <a:latin typeface="Segoe UI"/>
                        </a:rPr>
                        <a:t>Only my own attack suite</a:t>
                      </a:r>
                    </a:p>
                  </a:txBody>
                  <a:tcPr marL="73152" marR="73152" anchor="ctr">
                    <a:solidFill>
                      <a:srgbClr val="FCFCFB"/>
                    </a:solidFill>
                  </a:tcPr>
                </a:tc>
                <a:tc>
                  <a:txBody>
                    <a:bodyPr wrap="square"/>
                    <a:lstStyle/>
                    <a:p>
                      <a:r>
                        <a:rPr sz="1400" b="0">
                          <a:solidFill>
                            <a:srgbClr val="0B0B0B"/>
                          </a:solidFill>
                          <a:latin typeface="Segoe UI"/>
                        </a:rPr>
                        <a:t>25+ years worldwide; NIST FIPS 197</a:t>
                      </a:r>
                    </a:p>
                  </a:txBody>
                  <a:tcPr marL="73152" marR="73152" anchor="ctr">
                    <a:solidFill>
                      <a:srgbClr val="FCFCFB"/>
                    </a:solidFill>
                  </a:tcPr>
                </a:tc>
              </a:tr>
              <a:tr h="502920">
                <a:tc>
                  <a:txBody>
                    <a:bodyPr wrap="square"/>
                    <a:lstStyle/>
                    <a:p>
                      <a:r>
                        <a:rPr sz="1400" b="1">
                          <a:solidFill>
                            <a:srgbClr val="0B0B0B"/>
                          </a:solidFill>
                          <a:latin typeface="Segoe UI"/>
                        </a:rPr>
                        <a:t>Best known attack</a:t>
                      </a:r>
                    </a:p>
                  </a:txBody>
                  <a:tcPr marL="73152" marR="73152" anchor="ctr">
                    <a:solidFill>
                      <a:srgbClr val="F3F2EF"/>
                    </a:solidFill>
                  </a:tcPr>
                </a:tc>
                <a:tc>
                  <a:txBody>
                    <a:bodyPr wrap="square"/>
                    <a:lstStyle/>
                    <a:p>
                      <a:r>
                        <a:rPr sz="1400" b="0">
                          <a:solidFill>
                            <a:srgbClr val="0B0B0B"/>
                          </a:solidFill>
                          <a:latin typeface="Segoe UI"/>
                        </a:rPr>
                        <a:t>Unknown (unstudied)</a:t>
                      </a:r>
                    </a:p>
                  </a:txBody>
                  <a:tcPr marL="73152" marR="73152" anchor="ctr">
                    <a:solidFill>
                      <a:srgbClr val="F3F2EF"/>
                    </a:solidFill>
                  </a:tcPr>
                </a:tc>
                <a:tc>
                  <a:txBody>
                    <a:bodyPr wrap="square"/>
                    <a:lstStyle/>
                    <a:p>
                      <a:r>
                        <a:rPr sz="1400" b="0">
                          <a:solidFill>
                            <a:srgbClr val="0B0B0B"/>
                          </a:solidFill>
                          <a:latin typeface="Segoe UI"/>
                        </a:rPr>
                        <a:t>≈ 2²⁵⁴·⁴ (essentially brute force)</a:t>
                      </a:r>
                    </a:p>
                  </a:txBody>
                  <a:tcPr marL="73152" marR="73152" anchor="ctr">
                    <a:solidFill>
                      <a:srgbClr val="F3F2EF"/>
                    </a:solidFill>
                  </a:tcPr>
                </a:tc>
              </a:tr>
              <a:tr h="502920">
                <a:tc>
                  <a:txBody>
                    <a:bodyPr wrap="square"/>
                    <a:lstStyle/>
                    <a:p>
                      <a:r>
                        <a:rPr sz="1400" b="1">
                          <a:solidFill>
                            <a:srgbClr val="0B0B0B"/>
                          </a:solidFill>
                          <a:latin typeface="Segoe UI"/>
                        </a:rPr>
                        <a:t>Timing side channels</a:t>
                      </a:r>
                    </a:p>
                  </a:txBody>
                  <a:tcPr marL="73152" marR="73152" anchor="ctr">
                    <a:solidFill>
                      <a:srgbClr val="FCFCFB"/>
                    </a:solidFill>
                  </a:tcPr>
                </a:tc>
                <a:tc>
                  <a:txBody>
                    <a:bodyPr wrap="square"/>
                    <a:lstStyle/>
                    <a:p>
                      <a:r>
                        <a:rPr sz="1400" b="0">
                          <a:solidFill>
                            <a:srgbClr val="0B0B0B"/>
                          </a:solidFill>
                          <a:latin typeface="Segoe UI"/>
                        </a:rPr>
                        <a:t>Table lookups depend on secrets</a:t>
                      </a:r>
                    </a:p>
                  </a:txBody>
                  <a:tcPr marL="73152" marR="73152" anchor="ctr">
                    <a:solidFill>
                      <a:srgbClr val="FCFCFB"/>
                    </a:solidFill>
                  </a:tcPr>
                </a:tc>
                <a:tc>
                  <a:txBody>
                    <a:bodyPr wrap="square"/>
                    <a:lstStyle/>
                    <a:p>
                      <a:r>
                        <a:rPr sz="1400" b="0">
                          <a:solidFill>
                            <a:srgbClr val="0B0B0B"/>
                          </a:solidFill>
                          <a:latin typeface="Segoe UI"/>
                        </a:rPr>
                        <a:t>Constant time with AES-NI</a:t>
                      </a:r>
                    </a:p>
                  </a:txBody>
                  <a:tcPr marL="73152" marR="73152" anchor="ctr">
                    <a:solidFill>
                      <a:srgbClr val="FCFCFB"/>
                    </a:solidFill>
                  </a:tcPr>
                </a:tc>
              </a:tr>
            </a:tbl>
          </a:graphicData>
        </a:graphic>
      </p:graphicFrame>
      <p:sp>
        <p:nvSpPr>
          <p:cNvPr id="6" name="TextBox 5"/>
          <p:cNvSpPr txBox="1"/>
          <p:nvPr/>
        </p:nvSpPr>
        <p:spPr>
          <a:xfrm>
            <a:off x="548640" y="5715000"/>
            <a:ext cx="11064240" cy="457200"/>
          </a:xfrm>
          <a:prstGeom prst="rect">
            <a:avLst/>
          </a:prstGeom>
          <a:noFill/>
        </p:spPr>
        <p:txBody>
          <a:bodyPr wrap="square" anchor="t" lIns="45720" rIns="45720">
            <a:spAutoFit/>
          </a:bodyPr>
          <a:lstStyle/>
          <a:p>
            <a:pPr algn="l">
              <a:spcAft>
                <a:spcPts val="600"/>
              </a:spcAft>
            </a:pPr>
            <a:r>
              <a:rPr sz="1400" b="1">
                <a:solidFill>
                  <a:srgbClr val="12243D"/>
                </a:solidFill>
                <a:latin typeface="Segoe UI"/>
              </a:rPr>
              <a:t>Takeaway: use AES-GCM for real data. This project is a working demonstration of how ciphers are designed and attacked.</a:t>
            </a:r>
          </a:p>
        </p:txBody>
      </p:sp>
      <p:sp>
        <p:nvSpPr>
          <p:cNvPr id="7" name="TextBox 6"/>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a:solidFill>
                  <a:srgbClr val="8A8985"/>
                </a:solidFill>
                <a:latin typeface="Segoe UI"/>
              </a:rPr>
              <a:t>3D Chaotic Refractive Cipher  ·  Malladi Nagarjuna</a:t>
            </a:r>
          </a:p>
        </p:txBody>
      </p:sp>
      <p:sp>
        <p:nvSpPr>
          <p:cNvPr id="8" name="TextBox 7"/>
          <p:cNvSpPr txBox="1"/>
          <p:nvPr/>
        </p:nvSpPr>
        <p:spPr>
          <a:xfrm>
            <a:off x="10911535" y="6446520"/>
            <a:ext cx="822960" cy="274320"/>
          </a:xfrm>
          <a:prstGeom prst="rect">
            <a:avLst/>
          </a:prstGeom>
          <a:noFill/>
        </p:spPr>
        <p:txBody>
          <a:bodyPr wrap="square" anchor="t" lIns="45720" rIns="45720">
            <a:spAutoFit/>
          </a:bodyPr>
          <a:lstStyle/>
          <a:p>
            <a:pPr algn="r">
              <a:spcAft>
                <a:spcPts val="600"/>
              </a:spcAft>
            </a:pPr>
            <a:r>
              <a:rPr sz="1000" b="0">
                <a:solidFill>
                  <a:srgbClr val="8A8985"/>
                </a:solidFill>
                <a:latin typeface="Segoe U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365760"/>
          </a:xfrm>
          <a:prstGeom prst="rect">
            <a:avLst/>
          </a:prstGeom>
          <a:noFill/>
        </p:spPr>
        <p:txBody>
          <a:bodyPr wrap="square" anchor="t" lIns="45720" rIns="45720">
            <a:spAutoFit/>
          </a:bodyPr>
          <a:lstStyle/>
          <a:p>
            <a:pPr algn="l">
              <a:spcAft>
                <a:spcPts val="600"/>
              </a:spcAft>
            </a:pPr>
            <a:r>
              <a:rPr sz="1200" b="1">
                <a:solidFill>
                  <a:srgbClr val="2A78D6"/>
                </a:solidFill>
                <a:latin typeface="Segoe UI"/>
              </a:rPr>
              <a:t>CONTEXT</a:t>
            </a:r>
          </a:p>
        </p:txBody>
      </p:sp>
      <p:sp>
        <p:nvSpPr>
          <p:cNvPr id="4" name="TextBox 3"/>
          <p:cNvSpPr txBox="1"/>
          <p:nvPr/>
        </p:nvSpPr>
        <p:spPr>
          <a:xfrm>
            <a:off x="548640" y="566928"/>
            <a:ext cx="10972800" cy="822960"/>
          </a:xfrm>
          <a:prstGeom prst="rect">
            <a:avLst/>
          </a:prstGeom>
          <a:noFill/>
        </p:spPr>
        <p:txBody>
          <a:bodyPr wrap="square" anchor="t" lIns="45720" rIns="45720">
            <a:spAutoFit/>
          </a:bodyPr>
          <a:lstStyle/>
          <a:p>
            <a:pPr algn="l">
              <a:spcAft>
                <a:spcPts val="600"/>
              </a:spcAft>
            </a:pPr>
            <a:r>
              <a:rPr sz="3000" b="1">
                <a:solidFill>
                  <a:srgbClr val="12243D"/>
                </a:solidFill>
                <a:latin typeface="Segoe UI"/>
              </a:rPr>
              <a:t>Related research and limitations</a:t>
            </a:r>
          </a:p>
        </p:txBody>
      </p:sp>
      <p:sp>
        <p:nvSpPr>
          <p:cNvPr id="5" name="TextBox 4"/>
          <p:cNvSpPr txBox="1"/>
          <p:nvPr/>
        </p:nvSpPr>
        <p:spPr>
          <a:xfrm>
            <a:off x="548640" y="1554480"/>
            <a:ext cx="5486400" cy="457200"/>
          </a:xfrm>
          <a:prstGeom prst="rect">
            <a:avLst/>
          </a:prstGeom>
          <a:noFill/>
        </p:spPr>
        <p:txBody>
          <a:bodyPr wrap="square" anchor="t" lIns="45720" rIns="45720">
            <a:spAutoFit/>
          </a:bodyPr>
          <a:lstStyle/>
          <a:p>
            <a:pPr algn="l">
              <a:spcAft>
                <a:spcPts val="600"/>
              </a:spcAft>
            </a:pPr>
            <a:r>
              <a:rPr sz="1900" b="1">
                <a:solidFill>
                  <a:srgbClr val="12243D"/>
                </a:solidFill>
                <a:latin typeface="Segoe UI"/>
              </a:rPr>
              <a:t>Related research</a:t>
            </a:r>
          </a:p>
        </p:txBody>
      </p:sp>
      <p:sp>
        <p:nvSpPr>
          <p:cNvPr id="6" name="TextBox 5"/>
          <p:cNvSpPr txBox="1"/>
          <p:nvPr/>
        </p:nvSpPr>
        <p:spPr>
          <a:xfrm>
            <a:off x="548640" y="2057400"/>
            <a:ext cx="5486400" cy="4023360"/>
          </a:xfrm>
          <a:prstGeom prst="rect">
            <a:avLst/>
          </a:prstGeom>
          <a:noFill/>
        </p:spPr>
        <p:txBody>
          <a:bodyPr wrap="square">
            <a:spAutoFit/>
          </a:bodyPr>
          <a:lstStyle/>
          <a:p>
            <a:pPr>
              <a:spcAft>
                <a:spcPts val="800"/>
              </a:spcAft>
            </a:pPr>
            <a:r>
              <a:rPr sz="1500">
                <a:solidFill>
                  <a:srgbClr val="2A78D6"/>
                </a:solidFill>
                <a:latin typeface="Segoe UI"/>
              </a:rPr>
              <a:t>•  </a:t>
            </a:r>
            <a:r>
              <a:rPr b="1" sz="1500">
                <a:solidFill>
                  <a:srgbClr val="0B0B0B"/>
                </a:solidFill>
                <a:latin typeface="Segoe UI"/>
              </a:rPr>
              <a:t>Optical encryption (DRPE),</a:t>
            </a:r>
            <a:r>
              <a:rPr sz="1500">
                <a:solidFill>
                  <a:srgbClr val="0B0B0B"/>
                </a:solidFill>
                <a:latin typeface="Segoe UI"/>
              </a:rPr>
              <a:t> Réfrégier &amp; Javidi 1995</a:t>
            </a:r>
          </a:p>
          <a:p>
            <a:pPr lvl="1">
              <a:spcAft>
                <a:spcPts val="400"/>
              </a:spcAft>
            </a:pPr>
            <a:r>
              <a:rPr sz="1200">
                <a:solidFill>
                  <a:srgbClr val="2A78D6"/>
                </a:solidFill>
                <a:latin typeface="Segoe UI"/>
              </a:rPr>
              <a:t>–  </a:t>
            </a:r>
            <a:r>
              <a:rPr sz="1200">
                <a:solidFill>
                  <a:srgbClr val="52514E"/>
                </a:solidFill>
                <a:latin typeface="Segoe UI"/>
              </a:rPr>
              <a:t>broken: optics is linear → chosen/known-plaintext attacks</a:t>
            </a:r>
          </a:p>
          <a:p>
            <a:pPr>
              <a:spcAft>
                <a:spcPts val="800"/>
              </a:spcAft>
            </a:pPr>
            <a:r>
              <a:rPr sz="1500">
                <a:solidFill>
                  <a:srgbClr val="2A78D6"/>
                </a:solidFill>
                <a:latin typeface="Segoe UI"/>
              </a:rPr>
              <a:t>•  </a:t>
            </a:r>
            <a:r>
              <a:rPr b="1" sz="1500">
                <a:solidFill>
                  <a:srgbClr val="0B0B0B"/>
                </a:solidFill>
                <a:latin typeface="Segoe UI"/>
              </a:rPr>
              <a:t>Optical PUFs,</a:t>
            </a:r>
            <a:r>
              <a:rPr sz="1500">
                <a:solidFill>
                  <a:srgbClr val="0B0B0B"/>
                </a:solidFill>
                <a:latin typeface="Segoe UI"/>
              </a:rPr>
              <a:t> Pappu et al., Science 2002</a:t>
            </a:r>
          </a:p>
          <a:p>
            <a:pPr lvl="1">
              <a:spcAft>
                <a:spcPts val="400"/>
              </a:spcAft>
            </a:pPr>
            <a:r>
              <a:rPr sz="1200">
                <a:solidFill>
                  <a:srgbClr val="2A78D6"/>
                </a:solidFill>
                <a:latin typeface="Segoe UI"/>
              </a:rPr>
              <a:t>–  </a:t>
            </a:r>
            <a:r>
              <a:rPr sz="1200">
                <a:solidFill>
                  <a:srgbClr val="52514E"/>
                </a:solidFill>
                <a:latin typeface="Segoe UI"/>
              </a:rPr>
              <a:t>light through a real random token; mine is computed from the key</a:t>
            </a:r>
          </a:p>
          <a:p>
            <a:pPr>
              <a:spcAft>
                <a:spcPts val="800"/>
              </a:spcAft>
            </a:pPr>
            <a:r>
              <a:rPr sz="1500">
                <a:solidFill>
                  <a:srgbClr val="2A78D6"/>
                </a:solidFill>
                <a:latin typeface="Segoe UI"/>
              </a:rPr>
              <a:t>•  </a:t>
            </a:r>
            <a:r>
              <a:rPr b="1" sz="1500">
                <a:solidFill>
                  <a:srgbClr val="0B0B0B"/>
                </a:solidFill>
                <a:latin typeface="Segoe UI"/>
              </a:rPr>
              <a:t>Chaos-based ciphers,</a:t>
            </a:r>
            <a:r>
              <a:rPr sz="1500">
                <a:solidFill>
                  <a:srgbClr val="0B0B0B"/>
                </a:solidFill>
                <a:latin typeface="Segoe UI"/>
              </a:rPr>
              <a:t> since Matthews 1989</a:t>
            </a:r>
          </a:p>
          <a:p>
            <a:pPr lvl="1">
              <a:spcAft>
                <a:spcPts val="400"/>
              </a:spcAft>
            </a:pPr>
            <a:r>
              <a:rPr sz="1200">
                <a:solidFill>
                  <a:srgbClr val="2A78D6"/>
                </a:solidFill>
                <a:latin typeface="Segoe UI"/>
              </a:rPr>
              <a:t>–  </a:t>
            </a:r>
            <a:r>
              <a:rPr sz="1200">
                <a:solidFill>
                  <a:srgbClr val="52514E"/>
                </a:solidFill>
                <a:latin typeface="Segoe UI"/>
              </a:rPr>
              <a:t>many broken; Alvarez &amp; Li (2006) list the common mistakes</a:t>
            </a:r>
          </a:p>
          <a:p>
            <a:pPr>
              <a:spcAft>
                <a:spcPts val="800"/>
              </a:spcAft>
            </a:pPr>
            <a:r>
              <a:rPr sz="1500">
                <a:solidFill>
                  <a:srgbClr val="2A78D6"/>
                </a:solidFill>
                <a:latin typeface="Segoe UI"/>
              </a:rPr>
              <a:t>•  </a:t>
            </a:r>
            <a:r>
              <a:rPr b="1" sz="1500">
                <a:solidFill>
                  <a:srgbClr val="0B0B0B"/>
                </a:solidFill>
                <a:latin typeface="Segoe UI"/>
              </a:rPr>
              <a:t>Feistel networks,</a:t>
            </a:r>
            <a:r>
              <a:rPr sz="1500">
                <a:solidFill>
                  <a:srgbClr val="0B0B0B"/>
                </a:solidFill>
                <a:latin typeface="Segoe UI"/>
              </a:rPr>
              <a:t> Luby &amp; Rackoff 1988</a:t>
            </a:r>
          </a:p>
        </p:txBody>
      </p:sp>
      <p:sp>
        <p:nvSpPr>
          <p:cNvPr id="7" name="TextBox 6"/>
          <p:cNvSpPr txBox="1"/>
          <p:nvPr/>
        </p:nvSpPr>
        <p:spPr>
          <a:xfrm>
            <a:off x="6400800" y="1554480"/>
            <a:ext cx="5303520" cy="457200"/>
          </a:xfrm>
          <a:prstGeom prst="rect">
            <a:avLst/>
          </a:prstGeom>
          <a:noFill/>
        </p:spPr>
        <p:txBody>
          <a:bodyPr wrap="square" anchor="t" lIns="45720" rIns="45720">
            <a:spAutoFit/>
          </a:bodyPr>
          <a:lstStyle/>
          <a:p>
            <a:pPr algn="l">
              <a:spcAft>
                <a:spcPts val="600"/>
              </a:spcAft>
            </a:pPr>
            <a:r>
              <a:rPr sz="1900" b="1">
                <a:solidFill>
                  <a:srgbClr val="12243D"/>
                </a:solidFill>
                <a:latin typeface="Segoe UI"/>
              </a:rPr>
              <a:t>Limitations</a:t>
            </a:r>
          </a:p>
        </p:txBody>
      </p:sp>
      <p:sp>
        <p:nvSpPr>
          <p:cNvPr id="8" name="TextBox 7"/>
          <p:cNvSpPr txBox="1"/>
          <p:nvPr/>
        </p:nvSpPr>
        <p:spPr>
          <a:xfrm>
            <a:off x="6400800" y="2057400"/>
            <a:ext cx="5303520" cy="4023360"/>
          </a:xfrm>
          <a:prstGeom prst="rect">
            <a:avLst/>
          </a:prstGeom>
          <a:noFill/>
        </p:spPr>
        <p:txBody>
          <a:bodyPr wrap="square">
            <a:spAutoFit/>
          </a:bodyPr>
          <a:lstStyle/>
          <a:p>
            <a:pPr>
              <a:spcAft>
                <a:spcPts val="800"/>
              </a:spcAft>
            </a:pPr>
            <a:r>
              <a:rPr sz="1500">
                <a:solidFill>
                  <a:srgbClr val="2A78D6"/>
                </a:solidFill>
                <a:latin typeface="Segoe UI"/>
              </a:rPr>
              <a:t>•  </a:t>
            </a:r>
            <a:r>
              <a:rPr b="1" sz="1500">
                <a:solidFill>
                  <a:srgbClr val="0B0B0B"/>
                </a:solidFill>
                <a:latin typeface="Segoe UI"/>
              </a:rPr>
              <a:t>No independent cryptanalysis</a:t>
            </a:r>
            <a:r>
              <a:rPr sz="1500">
                <a:solidFill>
                  <a:srgbClr val="0B0B0B"/>
                </a:solidFill>
                <a:latin typeface="Segoe UI"/>
              </a:rPr>
              <a:t> yet</a:t>
            </a:r>
          </a:p>
          <a:p>
            <a:pPr>
              <a:spcAft>
                <a:spcPts val="800"/>
              </a:spcAft>
            </a:pPr>
            <a:r>
              <a:rPr sz="1500">
                <a:solidFill>
                  <a:srgbClr val="2A78D6"/>
                </a:solidFill>
                <a:latin typeface="Segoe UI"/>
              </a:rPr>
              <a:t>•  </a:t>
            </a:r>
            <a:r>
              <a:rPr b="1" sz="1500">
                <a:solidFill>
                  <a:srgbClr val="0B0B0B"/>
                </a:solidFill>
                <a:latin typeface="Segoe UI"/>
              </a:rPr>
              <a:t>Cache-timing leaks</a:t>
            </a:r>
            <a:r>
              <a:rPr sz="1500">
                <a:solidFill>
                  <a:srgbClr val="0B0B0B"/>
                </a:solidFill>
                <a:latin typeface="Segoe UI"/>
              </a:rPr>
              <a:t> from secret-dependent lookups</a:t>
            </a:r>
          </a:p>
          <a:p>
            <a:pPr>
              <a:spcAft>
                <a:spcPts val="800"/>
              </a:spcAft>
            </a:pPr>
            <a:r>
              <a:rPr sz="1500">
                <a:solidFill>
                  <a:srgbClr val="2A78D6"/>
                </a:solidFill>
                <a:latin typeface="Segoe UI"/>
              </a:rPr>
              <a:t>•  </a:t>
            </a:r>
            <a:r>
              <a:rPr b="1" sz="1500">
                <a:solidFill>
                  <a:srgbClr val="0B0B0B"/>
                </a:solidFill>
                <a:latin typeface="Segoe UI"/>
              </a:rPr>
              <a:t>~50,000× slower than AES</a:t>
            </a:r>
            <a:r>
              <a:rPr sz="1500">
                <a:solidFill>
                  <a:srgbClr val="0B0B0B"/>
                </a:solidFill>
                <a:latin typeface="Segoe UI"/>
              </a:rPr>
              <a:t> with hardware support</a:t>
            </a:r>
          </a:p>
          <a:p>
            <a:pPr>
              <a:spcAft>
                <a:spcPts val="800"/>
              </a:spcAft>
            </a:pPr>
            <a:r>
              <a:rPr sz="1500">
                <a:solidFill>
                  <a:srgbClr val="2A78D6"/>
                </a:solidFill>
                <a:latin typeface="Segoe UI"/>
              </a:rPr>
              <a:t>•  </a:t>
            </a:r>
            <a:r>
              <a:rPr b="1" sz="1500">
                <a:solidFill>
                  <a:srgbClr val="0B0B0B"/>
                </a:solidFill>
                <a:latin typeface="Segoe UI"/>
              </a:rPr>
              <a:t>Core mixing (SplitMix64)</a:t>
            </a:r>
            <a:r>
              <a:rPr sz="1500">
                <a:solidFill>
                  <a:srgbClr val="0B0B0B"/>
                </a:solidFill>
                <a:latin typeface="Segoe UI"/>
              </a:rPr>
              <a:t> is not a vetted crypto primitive</a:t>
            </a:r>
          </a:p>
          <a:p>
            <a:pPr>
              <a:spcAft>
                <a:spcPts val="800"/>
              </a:spcAft>
            </a:pPr>
            <a:r>
              <a:rPr sz="1500">
                <a:solidFill>
                  <a:srgbClr val="2A78D6"/>
                </a:solidFill>
                <a:latin typeface="Segoe UI"/>
              </a:rPr>
              <a:t>•  </a:t>
            </a:r>
            <a:r>
              <a:rPr b="1" sz="1500">
                <a:solidFill>
                  <a:srgbClr val="0B0B0B"/>
                </a:solidFill>
                <a:latin typeface="Segoe UI"/>
              </a:rPr>
              <a:t>Whole file loaded into memory</a:t>
            </a:r>
            <a:r>
              <a:rPr sz="1500">
                <a:solidFill>
                  <a:srgbClr val="0B0B0B"/>
                </a:solidFill>
                <a:latin typeface="Segoe UI"/>
              </a:rPr>
              <a:t/>
            </a:r>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a:solidFill>
                  <a:srgbClr val="8A8985"/>
                </a:solidFill>
                <a:latin typeface="Segoe UI"/>
              </a:rPr>
              <a:t>3D Chaotic Refractive Cipher  ·  Malladi Nagarjuna</a:t>
            </a:r>
          </a:p>
        </p:txBody>
      </p:sp>
      <p:sp>
        <p:nvSpPr>
          <p:cNvPr id="10" name="TextBox 9"/>
          <p:cNvSpPr txBox="1"/>
          <p:nvPr/>
        </p:nvSpPr>
        <p:spPr>
          <a:xfrm>
            <a:off x="10911535" y="6446520"/>
            <a:ext cx="822960" cy="274320"/>
          </a:xfrm>
          <a:prstGeom prst="rect">
            <a:avLst/>
          </a:prstGeom>
          <a:noFill/>
        </p:spPr>
        <p:txBody>
          <a:bodyPr wrap="square" anchor="t" lIns="45720" rIns="45720">
            <a:spAutoFit/>
          </a:bodyPr>
          <a:lstStyle/>
          <a:p>
            <a:pPr algn="r">
              <a:spcAft>
                <a:spcPts val="600"/>
              </a:spcAft>
            </a:pPr>
            <a:r>
              <a:rPr sz="1000" b="0">
                <a:solidFill>
                  <a:srgbClr val="8A8985"/>
                </a:solidFill>
                <a:latin typeface="Segoe UI"/>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365760"/>
          </a:xfrm>
          <a:prstGeom prst="rect">
            <a:avLst/>
          </a:prstGeom>
          <a:noFill/>
        </p:spPr>
        <p:txBody>
          <a:bodyPr wrap="square" anchor="t" lIns="45720" rIns="45720">
            <a:spAutoFit/>
          </a:bodyPr>
          <a:lstStyle/>
          <a:p>
            <a:pPr algn="l">
              <a:spcAft>
                <a:spcPts val="600"/>
              </a:spcAft>
            </a:pPr>
            <a:r>
              <a:rPr sz="1200" b="1">
                <a:solidFill>
                  <a:srgbClr val="2A78D6"/>
                </a:solidFill>
                <a:latin typeface="Segoe UI"/>
              </a:rPr>
              <a:t>DEMO</a:t>
            </a:r>
          </a:p>
        </p:txBody>
      </p:sp>
      <p:sp>
        <p:nvSpPr>
          <p:cNvPr id="4" name="TextBox 3"/>
          <p:cNvSpPr txBox="1"/>
          <p:nvPr/>
        </p:nvSpPr>
        <p:spPr>
          <a:xfrm>
            <a:off x="548640" y="566928"/>
            <a:ext cx="10972800" cy="822960"/>
          </a:xfrm>
          <a:prstGeom prst="rect">
            <a:avLst/>
          </a:prstGeom>
          <a:noFill/>
        </p:spPr>
        <p:txBody>
          <a:bodyPr wrap="square" anchor="t" lIns="45720" rIns="45720">
            <a:spAutoFit/>
          </a:bodyPr>
          <a:lstStyle/>
          <a:p>
            <a:pPr algn="l">
              <a:spcAft>
                <a:spcPts val="600"/>
              </a:spcAft>
            </a:pPr>
            <a:r>
              <a:rPr sz="3000" b="1">
                <a:solidFill>
                  <a:srgbClr val="12243D"/>
                </a:solidFill>
                <a:latin typeface="Segoe UI"/>
              </a:rPr>
              <a:t>Live demo: simulation GUI</a:t>
            </a:r>
          </a:p>
        </p:txBody>
      </p:sp>
      <p:pic>
        <p:nvPicPr>
          <p:cNvPr id="5" name="Picture 4" descr="gui-feistel-rounds.png"/>
          <p:cNvPicPr>
            <a:picLocks noChangeAspect="1"/>
          </p:cNvPicPr>
          <p:nvPr/>
        </p:nvPicPr>
        <p:blipFill>
          <a:blip r:embed="rId3"/>
          <a:stretch>
            <a:fillRect/>
          </a:stretch>
        </p:blipFill>
        <p:spPr>
          <a:xfrm>
            <a:off x="6035040" y="1463040"/>
            <a:ext cx="5669280" cy="3607724"/>
          </a:xfrm>
          <a:prstGeom prst="rect">
            <a:avLst/>
          </a:prstGeom>
          <a:ln w="12700">
            <a:solidFill>
              <a:srgbClr val="E2E1DD"/>
            </a:solidFill>
          </a:ln>
        </p:spPr>
      </p:pic>
      <p:sp>
        <p:nvSpPr>
          <p:cNvPr id="6" name="TextBox 5"/>
          <p:cNvSpPr txBox="1"/>
          <p:nvPr/>
        </p:nvSpPr>
        <p:spPr>
          <a:xfrm>
            <a:off x="548640" y="1600200"/>
            <a:ext cx="5303520" cy="3108960"/>
          </a:xfrm>
          <a:prstGeom prst="rect">
            <a:avLst/>
          </a:prstGeom>
          <a:noFill/>
        </p:spPr>
        <p:txBody>
          <a:bodyPr wrap="square">
            <a:spAutoFit/>
          </a:bodyPr>
          <a:lstStyle/>
          <a:p>
            <a:pPr>
              <a:spcAft>
                <a:spcPts val="800"/>
              </a:spcAft>
            </a:pPr>
            <a:r>
              <a:rPr sz="1600">
                <a:solidFill>
                  <a:srgbClr val="2A78D6"/>
                </a:solidFill>
                <a:latin typeface="Segoe UI"/>
              </a:rPr>
              <a:t>•  </a:t>
            </a:r>
            <a:r>
              <a:rPr b="1" sz="1600">
                <a:solidFill>
                  <a:srgbClr val="0B0B0B"/>
                </a:solidFill>
                <a:latin typeface="Segoe UI"/>
              </a:rPr>
              <a:t>Ray simulation:</a:t>
            </a:r>
            <a:r>
              <a:rPr sz="1600">
                <a:solidFill>
                  <a:srgbClr val="0B0B0B"/>
                </a:solidFill>
                <a:latin typeface="Segoe UI"/>
              </a:rPr>
              <a:t> animated photon, each event explained</a:t>
            </a:r>
          </a:p>
          <a:p>
            <a:pPr>
              <a:spcAft>
                <a:spcPts val="800"/>
              </a:spcAft>
            </a:pPr>
            <a:r>
              <a:rPr sz="1600">
                <a:solidFill>
                  <a:srgbClr val="2A78D6"/>
                </a:solidFill>
                <a:latin typeface="Segoe UI"/>
              </a:rPr>
              <a:t>•  </a:t>
            </a:r>
            <a:r>
              <a:rPr b="1" sz="1600">
                <a:solidFill>
                  <a:srgbClr val="0B0B0B"/>
                </a:solidFill>
                <a:latin typeface="Segoe UI"/>
              </a:rPr>
              <a:t>Feistel rounds:</a:t>
            </a:r>
            <a:r>
              <a:rPr sz="1600">
                <a:solidFill>
                  <a:srgbClr val="0B0B0B"/>
                </a:solidFill>
                <a:latin typeface="Segoe UI"/>
              </a:rPr>
              <a:t> live table + avalanche chart</a:t>
            </a:r>
          </a:p>
          <a:p>
            <a:pPr>
              <a:spcAft>
                <a:spcPts val="800"/>
              </a:spcAft>
            </a:pPr>
            <a:r>
              <a:rPr sz="1600">
                <a:solidFill>
                  <a:srgbClr val="2A78D6"/>
                </a:solidFill>
                <a:latin typeface="Segoe UI"/>
              </a:rPr>
              <a:t>•  </a:t>
            </a:r>
            <a:r>
              <a:rPr b="1" sz="1600">
                <a:solidFill>
                  <a:srgbClr val="0B0B0B"/>
                </a:solidFill>
                <a:latin typeface="Segoe UI"/>
              </a:rPr>
              <a:t>Encrypt / Decrypt:</a:t>
            </a:r>
            <a:r>
              <a:rPr sz="1600">
                <a:solidFill>
                  <a:srgbClr val="0B0B0B"/>
                </a:solidFill>
                <a:latin typeface="Segoe UI"/>
              </a:rPr>
              <a:t> tamper 1 bit → rejected</a:t>
            </a:r>
          </a:p>
          <a:p>
            <a:pPr>
              <a:spcAft>
                <a:spcPts val="800"/>
              </a:spcAft>
            </a:pPr>
            <a:r>
              <a:rPr sz="1600">
                <a:solidFill>
                  <a:srgbClr val="2A78D6"/>
                </a:solidFill>
                <a:latin typeface="Segoe UI"/>
              </a:rPr>
              <a:t>•  </a:t>
            </a:r>
            <a:r>
              <a:rPr b="1" sz="1600">
                <a:solidFill>
                  <a:srgbClr val="0B0B0B"/>
                </a:solidFill>
                <a:latin typeface="Segoe UI"/>
              </a:rPr>
              <a:t>Crystal:</a:t>
            </a:r>
            <a:r>
              <a:rPr sz="1600">
                <a:solidFill>
                  <a:srgbClr val="0B0B0B"/>
                </a:solidFill>
                <a:latin typeface="Segoe UI"/>
              </a:rPr>
              <a:t> explore the key-generated crystal</a:t>
            </a:r>
          </a:p>
          <a:p>
            <a:pPr>
              <a:spcAft>
                <a:spcPts val="800"/>
              </a:spcAft>
            </a:pPr>
            <a:r>
              <a:rPr sz="1600">
                <a:solidFill>
                  <a:srgbClr val="2A78D6"/>
                </a:solidFill>
                <a:latin typeface="Segoe UI"/>
              </a:rPr>
              <a:t>•  </a:t>
            </a:r>
            <a:r>
              <a:rPr b="1" sz="1600">
                <a:solidFill>
                  <a:srgbClr val="0B0B0B"/>
                </a:solidFill>
                <a:latin typeface="Segoe UI"/>
              </a:rPr>
              <a:t>Attack lab:</a:t>
            </a:r>
            <a:r>
              <a:rPr sz="1600">
                <a:solidFill>
                  <a:srgbClr val="0B0B0B"/>
                </a:solidFill>
                <a:latin typeface="Segoe UI"/>
              </a:rPr>
              <a:t> run the real attack suite</a:t>
            </a:r>
          </a:p>
        </p:txBody>
      </p:sp>
      <p:sp>
        <p:nvSpPr>
          <p:cNvPr id="7" name="Rounded Rectangle 6"/>
          <p:cNvSpPr/>
          <p:nvPr/>
        </p:nvSpPr>
        <p:spPr>
          <a:xfrm>
            <a:off x="548640" y="4572000"/>
            <a:ext cx="5212080" cy="1325880"/>
          </a:xfrm>
          <a:prstGeom prst="roundRect">
            <a:avLst>
              <a:gd name="adj" fmla="val 12000"/>
            </a:avLst>
          </a:prstGeom>
          <a:solidFill>
            <a:srgbClr val="12243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12243D"/>
                </a:solidFill>
                <a:latin typeface="Segoe UI"/>
              </a:rPr>
              <a:t/>
            </a:r>
          </a:p>
        </p:txBody>
      </p:sp>
      <p:sp>
        <p:nvSpPr>
          <p:cNvPr id="8" name="TextBox 7"/>
          <p:cNvSpPr txBox="1"/>
          <p:nvPr/>
        </p:nvSpPr>
        <p:spPr>
          <a:xfrm>
            <a:off x="731520" y="4663440"/>
            <a:ext cx="4937760" cy="1188720"/>
          </a:xfrm>
          <a:prstGeom prst="rect">
            <a:avLst/>
          </a:prstGeom>
          <a:noFill/>
        </p:spPr>
        <p:txBody>
          <a:bodyPr wrap="square" anchor="t" lIns="45720" rIns="45720">
            <a:spAutoFit/>
          </a:bodyPr>
          <a:lstStyle/>
          <a:p>
            <a:pPr algn="l">
              <a:spcAft>
                <a:spcPts val="600"/>
              </a:spcAft>
            </a:pPr>
            <a:r>
              <a:rPr sz="1500" b="0">
                <a:solidFill>
                  <a:srgbClr val="FFFFFF"/>
                </a:solidFill>
                <a:latin typeface="Consolas"/>
              </a:rPr>
              <a:t>mingw32-make all</a:t>
            </a:r>
          </a:p>
          <a:p>
            <a:pPr algn="l">
              <a:spcAft>
                <a:spcPts val="600"/>
              </a:spcAft>
            </a:pPr>
            <a:r>
              <a:rPr sz="1500" b="0">
                <a:solidFill>
                  <a:srgbClr val="FFFFFF"/>
                </a:solidFill>
                <a:latin typeface="Consolas"/>
              </a:rPr>
              <a:t>python tools/refcrypt_gui.py</a:t>
            </a:r>
          </a:p>
          <a:p>
            <a:pPr algn="l">
              <a:spcAft>
                <a:spcPts val="600"/>
              </a:spcAft>
            </a:pPr>
            <a:r>
              <a:rPr sz="1200" b="0">
                <a:solidFill>
                  <a:srgbClr val="B8C7DA"/>
                </a:solidFill>
                <a:latin typeface="Segoe UI"/>
              </a:rPr>
              <a:t>github.com/malladinagarjuna2/crypto-project</a:t>
            </a:r>
          </a:p>
        </p:txBody>
      </p:sp>
      <p:sp>
        <p:nvSpPr>
          <p:cNvPr id="9" name="TextBox 8"/>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a:solidFill>
                  <a:srgbClr val="8A8985"/>
                </a:solidFill>
                <a:latin typeface="Segoe UI"/>
              </a:rPr>
              <a:t>3D Chaotic Refractive Cipher  ·  Malladi Nagarjuna</a:t>
            </a:r>
          </a:p>
        </p:txBody>
      </p:sp>
      <p:sp>
        <p:nvSpPr>
          <p:cNvPr id="10" name="TextBox 9"/>
          <p:cNvSpPr txBox="1"/>
          <p:nvPr/>
        </p:nvSpPr>
        <p:spPr>
          <a:xfrm>
            <a:off x="10911535" y="6446520"/>
            <a:ext cx="822960" cy="274320"/>
          </a:xfrm>
          <a:prstGeom prst="rect">
            <a:avLst/>
          </a:prstGeom>
          <a:noFill/>
        </p:spPr>
        <p:txBody>
          <a:bodyPr wrap="square" anchor="t" lIns="45720" rIns="45720">
            <a:spAutoFit/>
          </a:bodyPr>
          <a:lstStyle/>
          <a:p>
            <a:pPr algn="r">
              <a:spcAft>
                <a:spcPts val="600"/>
              </a:spcAft>
            </a:pPr>
            <a:r>
              <a:rPr sz="1000" b="0">
                <a:solidFill>
                  <a:srgbClr val="8A8985"/>
                </a:solidFill>
                <a:latin typeface="Segoe UI"/>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058400" cy="365760"/>
          </a:xfrm>
          <a:prstGeom prst="rect">
            <a:avLst/>
          </a:prstGeom>
          <a:noFill/>
        </p:spPr>
        <p:txBody>
          <a:bodyPr wrap="square" anchor="t" lIns="45720" rIns="45720">
            <a:spAutoFit/>
          </a:bodyPr>
          <a:lstStyle/>
          <a:p>
            <a:pPr algn="l">
              <a:spcAft>
                <a:spcPts val="600"/>
              </a:spcAft>
            </a:pPr>
            <a:r>
              <a:rPr sz="1200" b="1">
                <a:solidFill>
                  <a:srgbClr val="2A78D6"/>
                </a:solidFill>
                <a:latin typeface="Segoe UI"/>
              </a:rPr>
              <a:t>SUMMARY</a:t>
            </a:r>
          </a:p>
        </p:txBody>
      </p:sp>
      <p:sp>
        <p:nvSpPr>
          <p:cNvPr id="4" name="TextBox 3"/>
          <p:cNvSpPr txBox="1"/>
          <p:nvPr/>
        </p:nvSpPr>
        <p:spPr>
          <a:xfrm>
            <a:off x="548640" y="566928"/>
            <a:ext cx="10972800" cy="822960"/>
          </a:xfrm>
          <a:prstGeom prst="rect">
            <a:avLst/>
          </a:prstGeom>
          <a:noFill/>
        </p:spPr>
        <p:txBody>
          <a:bodyPr wrap="square" anchor="t" lIns="45720" rIns="45720">
            <a:spAutoFit/>
          </a:bodyPr>
          <a:lstStyle/>
          <a:p>
            <a:pPr algn="l">
              <a:spcAft>
                <a:spcPts val="600"/>
              </a:spcAft>
            </a:pPr>
            <a:r>
              <a:rPr sz="3000" b="1">
                <a:solidFill>
                  <a:srgbClr val="12243D"/>
                </a:solidFill>
                <a:latin typeface="Segoe UI"/>
              </a:rPr>
              <a:t>Conclusion</a:t>
            </a:r>
          </a:p>
        </p:txBody>
      </p:sp>
      <p:sp>
        <p:nvSpPr>
          <p:cNvPr id="5" name="Rounded Rectangle 4"/>
          <p:cNvSpPr/>
          <p:nvPr/>
        </p:nvSpPr>
        <p:spPr>
          <a:xfrm>
            <a:off x="548640" y="1691640"/>
            <a:ext cx="2011680" cy="822960"/>
          </a:xfrm>
          <a:prstGeom prst="roundRect">
            <a:avLst>
              <a:gd name="adj" fmla="val 12000"/>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FFFFFF"/>
                </a:solidFill>
                <a:latin typeface="Segoe UI"/>
              </a:rPr>
              <a:t>Built</a:t>
            </a:r>
          </a:p>
        </p:txBody>
      </p:sp>
      <p:sp>
        <p:nvSpPr>
          <p:cNvPr id="6" name="TextBox 5"/>
          <p:cNvSpPr txBox="1"/>
          <p:nvPr/>
        </p:nvSpPr>
        <p:spPr>
          <a:xfrm>
            <a:off x="2788920" y="1691640"/>
            <a:ext cx="8778240" cy="822960"/>
          </a:xfrm>
          <a:prstGeom prst="rect">
            <a:avLst/>
          </a:prstGeom>
          <a:noFill/>
        </p:spPr>
        <p:txBody>
          <a:bodyPr wrap="square" anchor="ctr" lIns="45720" rIns="45720">
            <a:spAutoFit/>
          </a:bodyPr>
          <a:lstStyle/>
          <a:p>
            <a:pPr algn="l">
              <a:spcAft>
                <a:spcPts val="600"/>
              </a:spcAft>
            </a:pPr>
            <a:r>
              <a:rPr sz="1800" b="0">
                <a:solidFill>
                  <a:srgbClr val="0B0B0B"/>
                </a:solidFill>
                <a:latin typeface="Segoe UI"/>
              </a:rPr>
              <a:t>a complete cipher in C11: crystal, ray tracer, Feistel, CTR + HMAC, CLI</a:t>
            </a:r>
          </a:p>
        </p:txBody>
      </p:sp>
      <p:sp>
        <p:nvSpPr>
          <p:cNvPr id="7" name="Rounded Rectangle 6"/>
          <p:cNvSpPr/>
          <p:nvPr/>
        </p:nvSpPr>
        <p:spPr>
          <a:xfrm>
            <a:off x="548640" y="2715768"/>
            <a:ext cx="2011680" cy="822960"/>
          </a:xfrm>
          <a:prstGeom prst="roundRect">
            <a:avLst>
              <a:gd name="adj" fmla="val 12000"/>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FFFFFF"/>
                </a:solidFill>
                <a:latin typeface="Segoe UI"/>
              </a:rPr>
              <a:t>Fixed</a:t>
            </a:r>
          </a:p>
        </p:txBody>
      </p:sp>
      <p:sp>
        <p:nvSpPr>
          <p:cNvPr id="8" name="TextBox 7"/>
          <p:cNvSpPr txBox="1"/>
          <p:nvPr/>
        </p:nvSpPr>
        <p:spPr>
          <a:xfrm>
            <a:off x="2788920" y="2715768"/>
            <a:ext cx="8778240" cy="822960"/>
          </a:xfrm>
          <a:prstGeom prst="rect">
            <a:avLst/>
          </a:prstGeom>
          <a:noFill/>
        </p:spPr>
        <p:txBody>
          <a:bodyPr wrap="square" anchor="ctr" lIns="45720" rIns="45720">
            <a:spAutoFit/>
          </a:bodyPr>
          <a:lstStyle/>
          <a:p>
            <a:pPr algn="l">
              <a:spcAft>
                <a:spcPts val="600"/>
              </a:spcAft>
            </a:pPr>
            <a:r>
              <a:rPr sz="1800" b="0">
                <a:solidFill>
                  <a:srgbClr val="0B0B0B"/>
                </a:solidFill>
                <a:latin typeface="Segoe UI"/>
              </a:rPr>
              <a:t>6 design flaws in the original plan, and proved the main one with a real attack</a:t>
            </a:r>
          </a:p>
        </p:txBody>
      </p:sp>
      <p:sp>
        <p:nvSpPr>
          <p:cNvPr id="9" name="Rounded Rectangle 8"/>
          <p:cNvSpPr/>
          <p:nvPr/>
        </p:nvSpPr>
        <p:spPr>
          <a:xfrm>
            <a:off x="548640" y="3739896"/>
            <a:ext cx="2011680" cy="822960"/>
          </a:xfrm>
          <a:prstGeom prst="roundRect">
            <a:avLst>
              <a:gd name="adj" fmla="val 12000"/>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FFFFFF"/>
                </a:solidFill>
                <a:latin typeface="Segoe UI"/>
              </a:rPr>
              <a:t>Verified</a:t>
            </a:r>
          </a:p>
        </p:txBody>
      </p:sp>
      <p:sp>
        <p:nvSpPr>
          <p:cNvPr id="10" name="TextBox 9"/>
          <p:cNvSpPr txBox="1"/>
          <p:nvPr/>
        </p:nvSpPr>
        <p:spPr>
          <a:xfrm>
            <a:off x="2788920" y="3739896"/>
            <a:ext cx="8778240" cy="822960"/>
          </a:xfrm>
          <a:prstGeom prst="rect">
            <a:avLst/>
          </a:prstGeom>
          <a:noFill/>
        </p:spPr>
        <p:txBody>
          <a:bodyPr wrap="square" anchor="ctr" lIns="45720" rIns="45720">
            <a:spAutoFit/>
          </a:bodyPr>
          <a:lstStyle/>
          <a:p>
            <a:pPr algn="l">
              <a:spcAft>
                <a:spcPts val="600"/>
              </a:spcAft>
            </a:pPr>
            <a:r>
              <a:rPr sz="1800" b="0">
                <a:solidFill>
                  <a:srgbClr val="0B0B0B"/>
                </a:solidFill>
                <a:latin typeface="Segoe UI"/>
              </a:rPr>
              <a:t>67 unit tests, 19 CLI checks, all attack-suite checks pass (10 MB)</a:t>
            </a:r>
          </a:p>
        </p:txBody>
      </p:sp>
      <p:sp>
        <p:nvSpPr>
          <p:cNvPr id="11" name="Rounded Rectangle 10"/>
          <p:cNvSpPr/>
          <p:nvPr/>
        </p:nvSpPr>
        <p:spPr>
          <a:xfrm>
            <a:off x="548640" y="4764024"/>
            <a:ext cx="2011680" cy="822960"/>
          </a:xfrm>
          <a:prstGeom prst="roundRect">
            <a:avLst>
              <a:gd name="adj" fmla="val 12000"/>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800" b="1">
                <a:solidFill>
                  <a:srgbClr val="FFFFFF"/>
                </a:solidFill>
                <a:latin typeface="Segoe UI"/>
              </a:rPr>
              <a:t>Learned</a:t>
            </a:r>
          </a:p>
        </p:txBody>
      </p:sp>
      <p:sp>
        <p:nvSpPr>
          <p:cNvPr id="12" name="TextBox 11"/>
          <p:cNvSpPr txBox="1"/>
          <p:nvPr/>
        </p:nvSpPr>
        <p:spPr>
          <a:xfrm>
            <a:off x="2788920" y="4764024"/>
            <a:ext cx="8778240" cy="822960"/>
          </a:xfrm>
          <a:prstGeom prst="rect">
            <a:avLst/>
          </a:prstGeom>
          <a:noFill/>
        </p:spPr>
        <p:txBody>
          <a:bodyPr wrap="square" anchor="ctr" lIns="45720" rIns="45720">
            <a:spAutoFit/>
          </a:bodyPr>
          <a:lstStyle/>
          <a:p>
            <a:pPr algn="l">
              <a:spcAft>
                <a:spcPts val="600"/>
              </a:spcAft>
            </a:pPr>
            <a:r>
              <a:rPr sz="1800" b="0">
                <a:solidFill>
                  <a:srgbClr val="0B0B0B"/>
                </a:solidFill>
                <a:latin typeface="Segoe UI"/>
              </a:rPr>
              <a:t>complexity ≠ security; trust comes from public analysis, so AES stays the choice for real data</a:t>
            </a:r>
          </a:p>
        </p:txBody>
      </p:sp>
      <p:sp>
        <p:nvSpPr>
          <p:cNvPr id="13" name="TextBox 12"/>
          <p:cNvSpPr txBox="1"/>
          <p:nvPr/>
        </p:nvSpPr>
        <p:spPr>
          <a:xfrm>
            <a:off x="548640" y="6446520"/>
            <a:ext cx="7315200" cy="274320"/>
          </a:xfrm>
          <a:prstGeom prst="rect">
            <a:avLst/>
          </a:prstGeom>
          <a:noFill/>
        </p:spPr>
        <p:txBody>
          <a:bodyPr wrap="square" anchor="t" lIns="45720" rIns="45720">
            <a:spAutoFit/>
          </a:bodyPr>
          <a:lstStyle/>
          <a:p>
            <a:pPr algn="l">
              <a:spcAft>
                <a:spcPts val="600"/>
              </a:spcAft>
            </a:pPr>
            <a:r>
              <a:rPr sz="1000" b="0">
                <a:solidFill>
                  <a:srgbClr val="8A8985"/>
                </a:solidFill>
                <a:latin typeface="Segoe UI"/>
              </a:rPr>
              <a:t>3D Chaotic Refractive Cipher  ·  Malladi Nagarjuna</a:t>
            </a:r>
          </a:p>
        </p:txBody>
      </p:sp>
      <p:sp>
        <p:nvSpPr>
          <p:cNvPr id="14" name="TextBox 13"/>
          <p:cNvSpPr txBox="1"/>
          <p:nvPr/>
        </p:nvSpPr>
        <p:spPr>
          <a:xfrm>
            <a:off x="10911535" y="6446520"/>
            <a:ext cx="822960" cy="274320"/>
          </a:xfrm>
          <a:prstGeom prst="rect">
            <a:avLst/>
          </a:prstGeom>
          <a:noFill/>
        </p:spPr>
        <p:txBody>
          <a:bodyPr wrap="square" anchor="t" lIns="45720" rIns="45720">
            <a:spAutoFit/>
          </a:bodyPr>
          <a:lstStyle/>
          <a:p>
            <a:pPr algn="r">
              <a:spcAft>
                <a:spcPts val="600"/>
              </a:spcAft>
            </a:pPr>
            <a:r>
              <a:rPr sz="1000" b="0">
                <a:solidFill>
                  <a:srgbClr val="8A8985"/>
                </a:solidFill>
                <a:latin typeface="Segoe UI"/>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224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377440"/>
            <a:ext cx="12191695" cy="1097280"/>
          </a:xfrm>
          <a:prstGeom prst="rect">
            <a:avLst/>
          </a:prstGeom>
          <a:noFill/>
        </p:spPr>
        <p:txBody>
          <a:bodyPr wrap="square" anchor="t" lIns="45720" rIns="45720">
            <a:spAutoFit/>
          </a:bodyPr>
          <a:lstStyle/>
          <a:p>
            <a:pPr algn="ctr">
              <a:spcAft>
                <a:spcPts val="600"/>
              </a:spcAft>
            </a:pPr>
            <a:r>
              <a:rPr sz="5400" b="1">
                <a:solidFill>
                  <a:srgbClr val="FFFFFF"/>
                </a:solidFill>
                <a:latin typeface="Segoe UI"/>
              </a:rPr>
              <a:t>Thank you</a:t>
            </a:r>
          </a:p>
        </p:txBody>
      </p:sp>
      <p:sp>
        <p:nvSpPr>
          <p:cNvPr id="4" name="TextBox 3"/>
          <p:cNvSpPr txBox="1"/>
          <p:nvPr/>
        </p:nvSpPr>
        <p:spPr>
          <a:xfrm>
            <a:off x="0" y="3474720"/>
            <a:ext cx="12191695" cy="548640"/>
          </a:xfrm>
          <a:prstGeom prst="rect">
            <a:avLst/>
          </a:prstGeom>
          <a:noFill/>
        </p:spPr>
        <p:txBody>
          <a:bodyPr wrap="square" anchor="t" lIns="45720" rIns="45720">
            <a:spAutoFit/>
          </a:bodyPr>
          <a:lstStyle/>
          <a:p>
            <a:pPr algn="ctr">
              <a:spcAft>
                <a:spcPts val="600"/>
              </a:spcAft>
            </a:pPr>
            <a:r>
              <a:rPr sz="2600" b="0">
                <a:solidFill>
                  <a:srgbClr val="D7E3F2"/>
                </a:solidFill>
                <a:latin typeface="Segoe UI"/>
              </a:rPr>
              <a:t>Questions?</a:t>
            </a:r>
          </a:p>
        </p:txBody>
      </p:sp>
      <p:sp>
        <p:nvSpPr>
          <p:cNvPr id="5" name="TextBox 4"/>
          <p:cNvSpPr txBox="1"/>
          <p:nvPr/>
        </p:nvSpPr>
        <p:spPr>
          <a:xfrm>
            <a:off x="0" y="4754880"/>
            <a:ext cx="12191695" cy="457200"/>
          </a:xfrm>
          <a:prstGeom prst="rect">
            <a:avLst/>
          </a:prstGeom>
          <a:noFill/>
        </p:spPr>
        <p:txBody>
          <a:bodyPr wrap="square" anchor="t" lIns="45720" rIns="45720">
            <a:spAutoFit/>
          </a:bodyPr>
          <a:lstStyle/>
          <a:p>
            <a:pPr algn="ctr">
              <a:spcAft>
                <a:spcPts val="600"/>
              </a:spcAft>
            </a:pPr>
            <a:r>
              <a:rPr sz="1500" b="0">
                <a:solidFill>
                  <a:srgbClr val="B8C7DA"/>
                </a:solidFill>
                <a:latin typeface="Segoe UI"/>
              </a:rPr>
              <a:t>github.com/malladinagarjuna2/crypto-project  ·  Malladi Nagarjuna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